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26" d="100"/>
          <a:sy n="126" d="100"/>
        </p:scale>
        <p:origin x="232"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450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this project asks whether the news, read automatically at scale, gives any warning before violence escalates. Everything here comes from free public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audience-neutral point first: the constraint is timing, not information. Two or three weeks of notice changes what is operationally possible.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non-technical. The one thing the audience must retain is that this is a record of coverage, which is both why it is fast and why it is imperfect.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If the audience understands the spike definition, every result later makes sense. Note the 8.89% base rate follows from this definition.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lopsidedness is the interesting engineering point: 12 minutes of distributed I/O feeding 59 seconds of modelling on 16,000 rows.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the web app imports the same functions the CLI uses, so there is no duplicated pipeline logic.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the sharpest possible question about this project, it will be about leakage. This slide is the answer.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 persistence baseline is not a straw man. Beating it is the whole test of whether the model sees build-up rather than the present.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slide into results. Anyone who takes away only the 0.090 floor will be able to read every chart that follows.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A 1.9x lift on a rare event is real and modest. The decay pattern is exactly what a genuine short-lived signal should look like.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widening margin matters more than the level. Persistence decays fast because knowing a country is spiking now says little about three weeks out.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non-technical audience this is the most important property: the number means something, so a user can choose their own cut-off rather than trusting a ranking.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the weaker version of the original hypothesis rather than the version proposed. No single feature carries more than 7.6% of the importance.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Ranked Ethiopia's spike weeks above its quiet weeks with an AUC of 0.957. Say clearly that this is the best case, and that the spread slide follows.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GOES HERE: PowerPoint &gt; Insert &gt; Video &gt; This Device, then size it to the dashed frame and delete the dashed rectangle and play button behind it. If the recording is not ready, run the app locally at 127.0.0.1:5001 and walk the same four steps live. Keep it to about two minutes.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Djibouti is better than presenting it as a catch. It illustrates the short-horizon model's overlap with persistence.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project credible. Translating PR-AUC into 442 alerts and 87 hits is what a non-technical audience actually needs.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the logistic-regression result is stronger than waiting to be asked. At a matched alert budget the boosted model still leads at three of four horizons.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Ordered by how much each would change confidence in the result, not by how hard it is. External validation comes first.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version: real signal, about reporting, modest, useful for triage. Then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326880" y="-1371600"/>
            <a:ext cx="5120640" cy="5120640"/>
          </a:xfrm>
          <a:prstGeom prst="ellipse">
            <a:avLst/>
          </a:prstGeom>
          <a:solidFill>
            <a:srgbClr val="13375E"/>
          </a:solidFill>
          <a:ln w="12700">
            <a:solidFill>
              <a:srgbClr val="333333"/>
            </a:solidFill>
            <a:prstDash val="solid"/>
          </a:ln>
        </p:spPr>
        <p:txBody>
          <a:bodyPr/>
          <a:lstStyle/>
          <a:p>
            <a:endParaRPr lang="en-US"/>
          </a:p>
        </p:txBody>
      </p:sp>
      <p:sp>
        <p:nvSpPr>
          <p:cNvPr id="3" name="Shape 1"/>
          <p:cNvSpPr/>
          <p:nvPr/>
        </p:nvSpPr>
        <p:spPr>
          <a:xfrm>
            <a:off x="10881360" y="4206240"/>
            <a:ext cx="2377440" cy="2377440"/>
          </a:xfrm>
          <a:prstGeom prst="ellipse">
            <a:avLst/>
          </a:prstGeom>
          <a:solidFill>
            <a:srgbClr val="13375E"/>
          </a:solidFill>
          <a:ln w="12700">
            <a:solidFill>
              <a:srgbClr val="333333"/>
            </a:solidFill>
            <a:prstDash val="solid"/>
          </a:ln>
        </p:spPr>
        <p:txBody>
          <a:bodyPr/>
          <a:lstStyle/>
          <a:p>
            <a:endParaRPr lang="en-US"/>
          </a:p>
        </p:txBody>
      </p:sp>
      <p:sp>
        <p:nvSpPr>
          <p:cNvPr id="4" name="Shape 2"/>
          <p:cNvSpPr/>
          <p:nvPr/>
        </p:nvSpPr>
        <p:spPr>
          <a:xfrm>
            <a:off x="777240" y="1481328"/>
            <a:ext cx="173736" cy="173736"/>
          </a:xfrm>
          <a:prstGeom prst="ellipse">
            <a:avLst/>
          </a:prstGeom>
          <a:solidFill>
            <a:srgbClr val="EB6834"/>
          </a:solidFill>
          <a:ln w="12700">
            <a:solidFill>
              <a:srgbClr val="333333"/>
            </a:solidFill>
            <a:prstDash val="solid"/>
          </a:ln>
        </p:spPr>
        <p:txBody>
          <a:bodyPr/>
          <a:lstStyle/>
          <a:p>
            <a:endParaRPr lang="en-US"/>
          </a:p>
        </p:txBody>
      </p:sp>
      <p:sp>
        <p:nvSpPr>
          <p:cNvPr id="5" name="Text 3"/>
          <p:cNvSpPr/>
          <p:nvPr/>
        </p:nvSpPr>
        <p:spPr>
          <a:xfrm>
            <a:off x="1078992" y="1371600"/>
            <a:ext cx="7772400" cy="384048"/>
          </a:xfrm>
          <a:prstGeom prst="rect">
            <a:avLst/>
          </a:prstGeom>
          <a:noFill/>
          <a:ln/>
        </p:spPr>
        <p:txBody>
          <a:bodyPr wrap="square" lIns="0" tIns="0" rIns="0" bIns="0" rtlCol="0" anchor="ctr"/>
          <a:lstStyle/>
          <a:p>
            <a:pPr marL="0" indent="0">
              <a:buNone/>
            </a:pPr>
            <a:r>
              <a:rPr lang="en-US" sz="1250" b="1" kern="0" spc="250" dirty="0">
                <a:solidFill>
                  <a:srgbClr val="CADCFC"/>
                </a:solidFill>
                <a:latin typeface="Calibri" pitchFamily="34" charset="0"/>
                <a:ea typeface="Calibri" pitchFamily="34" charset="-122"/>
                <a:cs typeface="Calibri" pitchFamily="34" charset="-120"/>
              </a:rPr>
              <a:t>MET CS 777  ·  BIG DATA ANALYTICS  ·  TERM PROJECT</a:t>
            </a:r>
            <a:endParaRPr lang="en-US" sz="1250" dirty="0"/>
          </a:p>
        </p:txBody>
      </p:sp>
      <p:sp>
        <p:nvSpPr>
          <p:cNvPr id="6" name="Text 4"/>
          <p:cNvSpPr/>
          <p:nvPr/>
        </p:nvSpPr>
        <p:spPr>
          <a:xfrm>
            <a:off x="777240" y="1965960"/>
            <a:ext cx="8595360" cy="1691640"/>
          </a:xfrm>
          <a:prstGeom prst="rect">
            <a:avLst/>
          </a:prstGeom>
          <a:noFill/>
          <a:ln/>
        </p:spPr>
        <p:txBody>
          <a:bodyPr wrap="square" lIns="0" tIns="0" rIns="0" bIns="0" rtlCol="0" anchor="t"/>
          <a:lstStyle/>
          <a:p>
            <a:pPr marL="0" indent="0">
              <a:lnSpc>
                <a:spcPts val="4600"/>
              </a:lnSpc>
              <a:buNone/>
            </a:pPr>
            <a:r>
              <a:rPr lang="en-US" sz="4300" b="1" dirty="0">
                <a:solidFill>
                  <a:srgbClr val="FFFFFF"/>
                </a:solidFill>
                <a:latin typeface="Cambria" pitchFamily="34" charset="0"/>
                <a:ea typeface="Cambria" pitchFamily="34" charset="-122"/>
                <a:cs typeface="Cambria" pitchFamily="34" charset="-120"/>
              </a:rPr>
              <a:t>Can the news tell us where violence is coming?</a:t>
            </a:r>
            <a:endParaRPr lang="en-US" sz="4300" dirty="0"/>
          </a:p>
        </p:txBody>
      </p:sp>
      <p:sp>
        <p:nvSpPr>
          <p:cNvPr id="7" name="Text 5"/>
          <p:cNvSpPr/>
          <p:nvPr/>
        </p:nvSpPr>
        <p:spPr>
          <a:xfrm>
            <a:off x="777240" y="3794760"/>
            <a:ext cx="8138160" cy="868680"/>
          </a:xfrm>
          <a:prstGeom prst="rect">
            <a:avLst/>
          </a:prstGeom>
          <a:noFill/>
          <a:ln/>
        </p:spPr>
        <p:txBody>
          <a:bodyPr wrap="square" lIns="0" tIns="0" rIns="0" bIns="0" rtlCol="0" anchor="t"/>
          <a:lstStyle/>
          <a:p>
            <a:pPr marL="0" indent="0">
              <a:lnSpc>
                <a:spcPts val="2500"/>
              </a:lnSpc>
              <a:buNone/>
            </a:pPr>
            <a:r>
              <a:rPr lang="en-US" sz="1650" dirty="0">
                <a:solidFill>
                  <a:srgbClr val="CADCFC"/>
                </a:solidFill>
                <a:latin typeface="Calibri" pitchFamily="34" charset="0"/>
                <a:ea typeface="Calibri" pitchFamily="34" charset="-122"/>
                <a:cs typeface="Calibri" pitchFamily="34" charset="-120"/>
              </a:rPr>
              <a:t>Forecasting spikes in violent conflict for 118 countries, one to four weeks ahead, from a free feed of the world's news.</a:t>
            </a:r>
            <a:endParaRPr lang="en-US" sz="1650" dirty="0"/>
          </a:p>
        </p:txBody>
      </p:sp>
      <p:sp>
        <p:nvSpPr>
          <p:cNvPr id="8" name="Text 6"/>
          <p:cNvSpPr/>
          <p:nvPr/>
        </p:nvSpPr>
        <p:spPr>
          <a:xfrm>
            <a:off x="777240" y="5760720"/>
            <a:ext cx="8229600" cy="365760"/>
          </a:xfrm>
          <a:prstGeom prst="rect">
            <a:avLst/>
          </a:prstGeom>
          <a:noFill/>
          <a:ln/>
        </p:spPr>
        <p:txBody>
          <a:bodyPr wrap="square" lIns="0" tIns="0" rIns="0" bIns="0" rtlCol="0" anchor="ctr"/>
          <a:lstStyle/>
          <a:p>
            <a:pPr marL="0" indent="0">
              <a:buNone/>
            </a:pPr>
            <a:r>
              <a:rPr lang="en-US" sz="1300" dirty="0">
                <a:solidFill>
                  <a:srgbClr val="9BB4D6"/>
                </a:solidFill>
                <a:latin typeface="Calibri" pitchFamily="34" charset="0"/>
                <a:ea typeface="Calibri" pitchFamily="34" charset="-122"/>
                <a:cs typeface="Calibri" pitchFamily="34" charset="-120"/>
              </a:rPr>
              <a:t>Deven Shah   ·   Boston University MET   ·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THE PROBLEM</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Decisions get made before violence peaks, not after</a:t>
            </a:r>
            <a:endParaRPr lang="en-US" sz="3300" dirty="0"/>
          </a:p>
        </p:txBody>
      </p:sp>
      <p:sp>
        <p:nvSpPr>
          <p:cNvPr id="5" name="Shape 3"/>
          <p:cNvSpPr/>
          <p:nvPr/>
        </p:nvSpPr>
        <p:spPr>
          <a:xfrm>
            <a:off x="566928" y="2121408"/>
            <a:ext cx="420624" cy="420624"/>
          </a:xfrm>
          <a:prstGeom prst="ellipse">
            <a:avLst/>
          </a:prstGeom>
          <a:solidFill>
            <a:srgbClr val="2A78D6"/>
          </a:solidFill>
          <a:ln w="12700">
            <a:solidFill>
              <a:srgbClr val="333333"/>
            </a:solidFill>
            <a:prstDash val="solid"/>
          </a:ln>
        </p:spPr>
        <p:txBody>
          <a:bodyPr/>
          <a:lstStyle/>
          <a:p>
            <a:endParaRPr lang="en-US"/>
          </a:p>
        </p:txBody>
      </p:sp>
      <p:sp>
        <p:nvSpPr>
          <p:cNvPr id="6" name="Text 4"/>
          <p:cNvSpPr/>
          <p:nvPr/>
        </p:nvSpPr>
        <p:spPr>
          <a:xfrm>
            <a:off x="566928" y="212140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70432" y="1874520"/>
            <a:ext cx="5394960" cy="914400"/>
          </a:xfrm>
          <a:prstGeom prst="rect">
            <a:avLst/>
          </a:prstGeom>
          <a:noFill/>
          <a:ln/>
        </p:spPr>
        <p:txBody>
          <a:bodyPr wrap="square" lIns="0" tIns="0" rIns="0" bIns="0" rtlCol="0" anchor="ctr"/>
          <a:lstStyle/>
          <a:p>
            <a:pPr marL="0" indent="0">
              <a:lnSpc>
                <a:spcPts val="2200"/>
              </a:lnSpc>
              <a:buNone/>
            </a:pPr>
            <a:r>
              <a:rPr lang="en-US" sz="1500" b="1" dirty="0">
                <a:solidFill>
                  <a:srgbClr val="0B2545"/>
                </a:solidFill>
                <a:latin typeface="Calibri" pitchFamily="34" charset="0"/>
                <a:ea typeface="Calibri" pitchFamily="34" charset="-122"/>
                <a:cs typeface="Calibri" pitchFamily="34" charset="-120"/>
              </a:rPr>
              <a:t>Aid agencies </a:t>
            </a:r>
            <a:r>
              <a:rPr lang="en-US" sz="1500" dirty="0">
                <a:solidFill>
                  <a:srgbClr val="16202B"/>
                </a:solidFill>
                <a:latin typeface="Calibri" pitchFamily="34" charset="0"/>
                <a:ea typeface="Calibri" pitchFamily="34" charset="-122"/>
                <a:cs typeface="Calibri" pitchFamily="34" charset="-120"/>
              </a:rPr>
              <a:t>have to pre-position supplies somewhere, weeks in advance.</a:t>
            </a:r>
            <a:endParaRPr lang="en-US" sz="1500" dirty="0"/>
          </a:p>
        </p:txBody>
      </p:sp>
      <p:sp>
        <p:nvSpPr>
          <p:cNvPr id="8" name="Shape 6"/>
          <p:cNvSpPr/>
          <p:nvPr/>
        </p:nvSpPr>
        <p:spPr>
          <a:xfrm>
            <a:off x="566928" y="3255264"/>
            <a:ext cx="420624" cy="420624"/>
          </a:xfrm>
          <a:prstGeom prst="ellipse">
            <a:avLst/>
          </a:prstGeom>
          <a:solidFill>
            <a:srgbClr val="2A78D6"/>
          </a:solidFill>
          <a:ln w="12700">
            <a:solidFill>
              <a:srgbClr val="333333"/>
            </a:solidFill>
            <a:prstDash val="solid"/>
          </a:ln>
        </p:spPr>
        <p:txBody>
          <a:bodyPr/>
          <a:lstStyle/>
          <a:p>
            <a:endParaRPr lang="en-US"/>
          </a:p>
        </p:txBody>
      </p:sp>
      <p:sp>
        <p:nvSpPr>
          <p:cNvPr id="9" name="Text 7"/>
          <p:cNvSpPr/>
          <p:nvPr/>
        </p:nvSpPr>
        <p:spPr>
          <a:xfrm>
            <a:off x="566928" y="32552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70432" y="3008376"/>
            <a:ext cx="5394960" cy="914400"/>
          </a:xfrm>
          <a:prstGeom prst="rect">
            <a:avLst/>
          </a:prstGeom>
          <a:noFill/>
          <a:ln/>
        </p:spPr>
        <p:txBody>
          <a:bodyPr wrap="square" lIns="0" tIns="0" rIns="0" bIns="0" rtlCol="0" anchor="ctr"/>
          <a:lstStyle/>
          <a:p>
            <a:pPr marL="0" indent="0">
              <a:lnSpc>
                <a:spcPts val="2200"/>
              </a:lnSpc>
              <a:buNone/>
            </a:pPr>
            <a:r>
              <a:rPr lang="en-US" sz="1500" b="1" dirty="0">
                <a:solidFill>
                  <a:srgbClr val="0B2545"/>
                </a:solidFill>
                <a:latin typeface="Calibri" pitchFamily="34" charset="0"/>
                <a:ea typeface="Calibri" pitchFamily="34" charset="-122"/>
                <a:cs typeface="Calibri" pitchFamily="34" charset="-120"/>
              </a:rPr>
              <a:t>Peacekeeping missions </a:t>
            </a:r>
            <a:r>
              <a:rPr lang="en-US" sz="1500" dirty="0">
                <a:solidFill>
                  <a:srgbClr val="16202B"/>
                </a:solidFill>
                <a:latin typeface="Calibri" pitchFamily="34" charset="0"/>
                <a:ea typeface="Calibri" pitchFamily="34" charset="-122"/>
                <a:cs typeface="Calibri" pitchFamily="34" charset="-120"/>
              </a:rPr>
              <a:t>have to decide where patrols go next month.</a:t>
            </a:r>
            <a:endParaRPr lang="en-US" sz="1500" dirty="0"/>
          </a:p>
        </p:txBody>
      </p:sp>
      <p:sp>
        <p:nvSpPr>
          <p:cNvPr id="11" name="Shape 9"/>
          <p:cNvSpPr/>
          <p:nvPr/>
        </p:nvSpPr>
        <p:spPr>
          <a:xfrm>
            <a:off x="566928" y="4389120"/>
            <a:ext cx="420624" cy="420624"/>
          </a:xfrm>
          <a:prstGeom prst="ellipse">
            <a:avLst/>
          </a:prstGeom>
          <a:solidFill>
            <a:srgbClr val="2A78D6"/>
          </a:solidFill>
          <a:ln w="12700">
            <a:solidFill>
              <a:srgbClr val="333333"/>
            </a:solidFill>
            <a:prstDash val="solid"/>
          </a:ln>
        </p:spPr>
        <p:txBody>
          <a:bodyPr/>
          <a:lstStyle/>
          <a:p>
            <a:endParaRPr lang="en-US"/>
          </a:p>
        </p:txBody>
      </p:sp>
      <p:sp>
        <p:nvSpPr>
          <p:cNvPr id="12" name="Text 10"/>
          <p:cNvSpPr/>
          <p:nvPr/>
        </p:nvSpPr>
        <p:spPr>
          <a:xfrm>
            <a:off x="566928" y="438912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170432" y="4142232"/>
            <a:ext cx="5394960" cy="914400"/>
          </a:xfrm>
          <a:prstGeom prst="rect">
            <a:avLst/>
          </a:prstGeom>
          <a:noFill/>
          <a:ln/>
        </p:spPr>
        <p:txBody>
          <a:bodyPr wrap="square" lIns="0" tIns="0" rIns="0" bIns="0" rtlCol="0" anchor="ctr"/>
          <a:lstStyle/>
          <a:p>
            <a:pPr marL="0" indent="0">
              <a:lnSpc>
                <a:spcPts val="2200"/>
              </a:lnSpc>
              <a:buNone/>
            </a:pPr>
            <a:r>
              <a:rPr lang="en-US" sz="1500" b="1" dirty="0">
                <a:solidFill>
                  <a:srgbClr val="0B2545"/>
                </a:solidFill>
                <a:latin typeface="Calibri" pitchFamily="34" charset="0"/>
                <a:ea typeface="Calibri" pitchFamily="34" charset="-122"/>
                <a:cs typeface="Calibri" pitchFamily="34" charset="-120"/>
              </a:rPr>
              <a:t>Newsrooms and analysts </a:t>
            </a:r>
            <a:r>
              <a:rPr lang="en-US" sz="1500" dirty="0">
                <a:solidFill>
                  <a:srgbClr val="16202B"/>
                </a:solidFill>
                <a:latin typeface="Calibri" pitchFamily="34" charset="0"/>
                <a:ea typeface="Calibri" pitchFamily="34" charset="-122"/>
                <a:cs typeface="Calibri" pitchFamily="34" charset="-120"/>
              </a:rPr>
              <a:t>have to pick which country gets attention this week.</a:t>
            </a:r>
            <a:endParaRPr lang="en-US" sz="1500" dirty="0"/>
          </a:p>
        </p:txBody>
      </p:sp>
      <p:sp>
        <p:nvSpPr>
          <p:cNvPr id="14" name="Shape 12"/>
          <p:cNvSpPr/>
          <p:nvPr/>
        </p:nvSpPr>
        <p:spPr>
          <a:xfrm>
            <a:off x="6903720" y="1783080"/>
            <a:ext cx="4754880" cy="3520440"/>
          </a:xfrm>
          <a:prstGeom prst="roundRect">
            <a:avLst>
              <a:gd name="adj" fmla="val 2857"/>
            </a:avLst>
          </a:prstGeom>
          <a:solidFill>
            <a:srgbClr val="0B2545"/>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5" name="Text 13"/>
          <p:cNvSpPr/>
          <p:nvPr/>
        </p:nvSpPr>
        <p:spPr>
          <a:xfrm>
            <a:off x="7223760" y="2057400"/>
            <a:ext cx="4114800" cy="685800"/>
          </a:xfrm>
          <a:prstGeom prst="rect">
            <a:avLst/>
          </a:prstGeom>
          <a:noFill/>
          <a:ln/>
        </p:spPr>
        <p:txBody>
          <a:bodyPr wrap="square" lIns="0" tIns="0" rIns="0" bIns="0" rtlCol="0" anchor="t"/>
          <a:lstStyle/>
          <a:p>
            <a:pPr marL="0" indent="0">
              <a:buNone/>
            </a:pPr>
            <a:r>
              <a:rPr lang="en-US" sz="2000" b="1" dirty="0">
                <a:solidFill>
                  <a:srgbClr val="FFFFFF"/>
                </a:solidFill>
                <a:latin typeface="Cambria" pitchFamily="34" charset="0"/>
                <a:ea typeface="Cambria" pitchFamily="34" charset="-122"/>
                <a:cs typeface="Cambria" pitchFamily="34" charset="-120"/>
              </a:rPr>
              <a:t>The tools that exist move too slowly</a:t>
            </a:r>
            <a:endParaRPr lang="en-US" sz="2000" dirty="0"/>
          </a:p>
        </p:txBody>
      </p:sp>
      <p:sp>
        <p:nvSpPr>
          <p:cNvPr id="16" name="Text 14"/>
          <p:cNvSpPr/>
          <p:nvPr/>
        </p:nvSpPr>
        <p:spPr>
          <a:xfrm>
            <a:off x="7223760" y="2834640"/>
            <a:ext cx="4114800" cy="1234440"/>
          </a:xfrm>
          <a:prstGeom prst="rect">
            <a:avLst/>
          </a:prstGeom>
          <a:noFill/>
          <a:ln/>
        </p:spPr>
        <p:txBody>
          <a:bodyPr wrap="square" lIns="0" tIns="0" rIns="0" bIns="0" rtlCol="0" anchor="t"/>
          <a:lstStyle/>
          <a:p>
            <a:pPr marL="0" indent="0">
              <a:lnSpc>
                <a:spcPts val="2100"/>
              </a:lnSpc>
              <a:buNone/>
            </a:pPr>
            <a:r>
              <a:rPr lang="en-US" sz="1450" dirty="0">
                <a:solidFill>
                  <a:srgbClr val="CADCFC"/>
                </a:solidFill>
                <a:latin typeface="Calibri" pitchFamily="34" charset="0"/>
                <a:ea typeface="Calibri" pitchFamily="34" charset="-122"/>
                <a:cs typeface="Calibri" pitchFamily="34" charset="-120"/>
              </a:rPr>
              <a:t>Standard conflict-risk indices refresh </a:t>
            </a:r>
            <a:r>
              <a:rPr lang="en-US" sz="1450" b="1" dirty="0">
                <a:solidFill>
                  <a:srgbClr val="EB6834"/>
                </a:solidFill>
                <a:latin typeface="Calibri" pitchFamily="34" charset="0"/>
                <a:ea typeface="Calibri" pitchFamily="34" charset="-122"/>
                <a:cs typeface="Calibri" pitchFamily="34" charset="-120"/>
              </a:rPr>
              <a:t>quarterly or once a year</a:t>
            </a:r>
            <a:r>
              <a:rPr lang="en-US" sz="1450" dirty="0">
                <a:solidFill>
                  <a:srgbClr val="CADCFC"/>
                </a:solidFill>
                <a:latin typeface="Calibri" pitchFamily="34" charset="0"/>
                <a:ea typeface="Calibri" pitchFamily="34" charset="-122"/>
                <a:cs typeface="Calibri" pitchFamily="34" charset="-120"/>
              </a:rPr>
              <a:t>, and they are built from slow indicators: GDP per capita, regime type, past wars.</a:t>
            </a:r>
            <a:endParaRPr lang="en-US" sz="1450" dirty="0"/>
          </a:p>
        </p:txBody>
      </p:sp>
      <p:sp>
        <p:nvSpPr>
          <p:cNvPr id="17" name="Text 15"/>
          <p:cNvSpPr/>
          <p:nvPr/>
        </p:nvSpPr>
        <p:spPr>
          <a:xfrm>
            <a:off x="7223760" y="4160520"/>
            <a:ext cx="4114800" cy="1005840"/>
          </a:xfrm>
          <a:prstGeom prst="rect">
            <a:avLst/>
          </a:prstGeom>
          <a:noFill/>
          <a:ln/>
        </p:spPr>
        <p:txBody>
          <a:bodyPr wrap="square" lIns="0" tIns="0" rIns="0" bIns="0" rtlCol="0" anchor="t"/>
          <a:lstStyle/>
          <a:p>
            <a:pPr marL="0" indent="0">
              <a:lnSpc>
                <a:spcPts val="2100"/>
              </a:lnSpc>
              <a:buNone/>
            </a:pPr>
            <a:r>
              <a:rPr lang="en-US" sz="1450" i="1" dirty="0">
                <a:solidFill>
                  <a:srgbClr val="FFFFFF"/>
                </a:solidFill>
                <a:latin typeface="Calibri" pitchFamily="34" charset="0"/>
                <a:ea typeface="Calibri" pitchFamily="34" charset="-122"/>
                <a:cs typeface="Calibri" pitchFamily="34" charset="-120"/>
              </a:rPr>
              <a:t>They explain why a country is fragile. They cannot tell you which week the fragility turns into events.</a:t>
            </a:r>
            <a:endParaRPr lang="en-US" sz="1450" dirty="0"/>
          </a:p>
        </p:txBody>
      </p:sp>
      <p:sp>
        <p:nvSpPr>
          <p:cNvPr id="18" name="Text 16"/>
          <p:cNvSpPr/>
          <p:nvPr/>
        </p:nvSpPr>
        <p:spPr>
          <a:xfrm>
            <a:off x="566928" y="5532120"/>
            <a:ext cx="5943600" cy="822960"/>
          </a:xfrm>
          <a:prstGeom prst="rect">
            <a:avLst/>
          </a:prstGeom>
          <a:noFill/>
          <a:ln/>
        </p:spPr>
        <p:txBody>
          <a:bodyPr wrap="square" lIns="0" tIns="0" rIns="0" bIns="0" rtlCol="0" anchor="t"/>
          <a:lstStyle/>
          <a:p>
            <a:pPr marL="0" indent="0">
              <a:lnSpc>
                <a:spcPts val="2100"/>
              </a:lnSpc>
              <a:buNone/>
            </a:pPr>
            <a:r>
              <a:rPr lang="en-US" sz="1400" dirty="0">
                <a:solidFill>
                  <a:srgbClr val="5D6B7A"/>
                </a:solidFill>
                <a:latin typeface="Calibri" pitchFamily="34" charset="0"/>
                <a:ea typeface="Calibri" pitchFamily="34" charset="-122"/>
                <a:cs typeface="Calibri" pitchFamily="34" charset="-120"/>
              </a:rPr>
              <a:t>So the question is not "which countries are dangerous?" It is "which countries are about to get worse than they usually are?"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THE DATA</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GDELT: a machine that reads the world's news, all day</a:t>
            </a:r>
            <a:endParaRPr lang="en-US" sz="3300" dirty="0"/>
          </a:p>
        </p:txBody>
      </p:sp>
      <p:sp>
        <p:nvSpPr>
          <p:cNvPr id="5" name="Text 3"/>
          <p:cNvSpPr/>
          <p:nvPr/>
        </p:nvSpPr>
        <p:spPr>
          <a:xfrm>
            <a:off x="566928" y="1783080"/>
            <a:ext cx="6492240" cy="1371600"/>
          </a:xfrm>
          <a:prstGeom prst="rect">
            <a:avLst/>
          </a:prstGeom>
          <a:noFill/>
          <a:ln/>
        </p:spPr>
        <p:txBody>
          <a:bodyPr wrap="square" lIns="0" tIns="0" rIns="0" bIns="0" rtlCol="0" anchor="t"/>
          <a:lstStyle/>
          <a:p>
            <a:pPr marL="0" indent="0">
              <a:lnSpc>
                <a:spcPts val="2400"/>
              </a:lnSpc>
              <a:buNone/>
            </a:pPr>
            <a:r>
              <a:rPr lang="en-US" sz="1550" dirty="0">
                <a:solidFill>
                  <a:srgbClr val="16202B"/>
                </a:solidFill>
                <a:latin typeface="Calibri" pitchFamily="34" charset="0"/>
                <a:ea typeface="Calibri" pitchFamily="34" charset="-122"/>
                <a:cs typeface="Calibri" pitchFamily="34" charset="-120"/>
              </a:rPr>
              <a:t>A public project scans news coverage worldwide and turns every reported incident (a protest, a raid, a border clash, a peace talk) into one row of a table: who did what to whom, roughly where, and when.</a:t>
            </a:r>
            <a:endParaRPr lang="en-US" sz="1550" dirty="0"/>
          </a:p>
        </p:txBody>
      </p:sp>
      <p:sp>
        <p:nvSpPr>
          <p:cNvPr id="6" name="Shape 4"/>
          <p:cNvSpPr/>
          <p:nvPr/>
        </p:nvSpPr>
        <p:spPr>
          <a:xfrm>
            <a:off x="566928" y="3337560"/>
            <a:ext cx="1938528" cy="1481328"/>
          </a:xfrm>
          <a:prstGeom prst="roundRect">
            <a:avLst>
              <a:gd name="adj" fmla="val 679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7" name="Text 5"/>
          <p:cNvSpPr/>
          <p:nvPr/>
        </p:nvSpPr>
        <p:spPr>
          <a:xfrm>
            <a:off x="585216" y="3483864"/>
            <a:ext cx="1901952" cy="713232"/>
          </a:xfrm>
          <a:prstGeom prst="rect">
            <a:avLst/>
          </a:prstGeom>
          <a:noFill/>
          <a:ln/>
        </p:spPr>
        <p:txBody>
          <a:bodyPr wrap="square" lIns="0" tIns="0" rIns="0" bIns="0" rtlCol="0" anchor="ctr"/>
          <a:lstStyle/>
          <a:p>
            <a:pPr marL="0" indent="0" algn="ctr">
              <a:buNone/>
            </a:pPr>
            <a:r>
              <a:rPr lang="en-US" sz="4000" b="1" dirty="0">
                <a:solidFill>
                  <a:srgbClr val="0B2545"/>
                </a:solidFill>
                <a:latin typeface="Cambria" pitchFamily="34" charset="0"/>
                <a:ea typeface="Cambria" pitchFamily="34" charset="-122"/>
                <a:cs typeface="Cambria" pitchFamily="34" charset="-120"/>
              </a:rPr>
              <a:t>15 min</a:t>
            </a:r>
            <a:endParaRPr lang="en-US" sz="4000" dirty="0"/>
          </a:p>
        </p:txBody>
      </p:sp>
      <p:sp>
        <p:nvSpPr>
          <p:cNvPr id="8" name="Text 6"/>
          <p:cNvSpPr/>
          <p:nvPr/>
        </p:nvSpPr>
        <p:spPr>
          <a:xfrm>
            <a:off x="731520" y="4206240"/>
            <a:ext cx="1609344" cy="502920"/>
          </a:xfrm>
          <a:prstGeom prst="rect">
            <a:avLst/>
          </a:prstGeom>
          <a:noFill/>
          <a:ln/>
        </p:spPr>
        <p:txBody>
          <a:bodyPr wrap="square" lIns="0" tIns="0" rIns="0" bIns="0" rtlCol="0" anchor="t"/>
          <a:lstStyle/>
          <a:p>
            <a:pPr marL="0" indent="0" algn="ctr">
              <a:buNone/>
            </a:pPr>
            <a:r>
              <a:rPr lang="en-US" sz="1200" dirty="0">
                <a:solidFill>
                  <a:srgbClr val="5D6B7A"/>
                </a:solidFill>
                <a:latin typeface="Calibri" pitchFamily="34" charset="0"/>
                <a:ea typeface="Calibri" pitchFamily="34" charset="-122"/>
                <a:cs typeface="Calibri" pitchFamily="34" charset="-120"/>
              </a:rPr>
              <a:t>A new batch of events, around the clock</a:t>
            </a:r>
            <a:endParaRPr lang="en-US" sz="1200" dirty="0"/>
          </a:p>
        </p:txBody>
      </p:sp>
      <p:sp>
        <p:nvSpPr>
          <p:cNvPr id="9" name="Shape 7"/>
          <p:cNvSpPr/>
          <p:nvPr/>
        </p:nvSpPr>
        <p:spPr>
          <a:xfrm>
            <a:off x="2779776" y="3337560"/>
            <a:ext cx="1938528" cy="1481328"/>
          </a:xfrm>
          <a:prstGeom prst="roundRect">
            <a:avLst>
              <a:gd name="adj" fmla="val 679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0" name="Text 8"/>
          <p:cNvSpPr/>
          <p:nvPr/>
        </p:nvSpPr>
        <p:spPr>
          <a:xfrm>
            <a:off x="2798064" y="3483864"/>
            <a:ext cx="1901952" cy="713232"/>
          </a:xfrm>
          <a:prstGeom prst="rect">
            <a:avLst/>
          </a:prstGeom>
          <a:noFill/>
          <a:ln/>
        </p:spPr>
        <p:txBody>
          <a:bodyPr wrap="square" lIns="0" tIns="0" rIns="0" bIns="0" rtlCol="0" anchor="ctr"/>
          <a:lstStyle/>
          <a:p>
            <a:pPr marL="0" indent="0" algn="ctr">
              <a:buNone/>
            </a:pPr>
            <a:r>
              <a:rPr lang="en-US" sz="4000" b="1" dirty="0">
                <a:solidFill>
                  <a:srgbClr val="0B2545"/>
                </a:solidFill>
                <a:latin typeface="Cambria" pitchFamily="34" charset="0"/>
                <a:ea typeface="Cambria" pitchFamily="34" charset="-122"/>
                <a:cs typeface="Cambria" pitchFamily="34" charset="-120"/>
              </a:rPr>
              <a:t>65+</a:t>
            </a:r>
            <a:endParaRPr lang="en-US" sz="4000" dirty="0"/>
          </a:p>
        </p:txBody>
      </p:sp>
      <p:sp>
        <p:nvSpPr>
          <p:cNvPr id="11" name="Text 9"/>
          <p:cNvSpPr/>
          <p:nvPr/>
        </p:nvSpPr>
        <p:spPr>
          <a:xfrm>
            <a:off x="2944368" y="4206240"/>
            <a:ext cx="1609344" cy="502920"/>
          </a:xfrm>
          <a:prstGeom prst="rect">
            <a:avLst/>
          </a:prstGeom>
          <a:noFill/>
          <a:ln/>
        </p:spPr>
        <p:txBody>
          <a:bodyPr wrap="square" lIns="0" tIns="0" rIns="0" bIns="0" rtlCol="0" anchor="t"/>
          <a:lstStyle/>
          <a:p>
            <a:pPr marL="0" indent="0" algn="ctr">
              <a:buNone/>
            </a:pPr>
            <a:r>
              <a:rPr lang="en-US" sz="1200" dirty="0">
                <a:solidFill>
                  <a:srgbClr val="5D6B7A"/>
                </a:solidFill>
                <a:latin typeface="Calibri" pitchFamily="34" charset="0"/>
                <a:ea typeface="Calibri" pitchFamily="34" charset="-122"/>
                <a:cs typeface="Calibri" pitchFamily="34" charset="-120"/>
              </a:rPr>
              <a:t>Languages of news coverage read</a:t>
            </a:r>
            <a:endParaRPr lang="en-US" sz="1200" dirty="0"/>
          </a:p>
        </p:txBody>
      </p:sp>
      <p:sp>
        <p:nvSpPr>
          <p:cNvPr id="12" name="Shape 10"/>
          <p:cNvSpPr/>
          <p:nvPr/>
        </p:nvSpPr>
        <p:spPr>
          <a:xfrm>
            <a:off x="4992624" y="3337560"/>
            <a:ext cx="1938528" cy="1481328"/>
          </a:xfrm>
          <a:prstGeom prst="roundRect">
            <a:avLst>
              <a:gd name="adj" fmla="val 679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3" name="Text 11"/>
          <p:cNvSpPr/>
          <p:nvPr/>
        </p:nvSpPr>
        <p:spPr>
          <a:xfrm>
            <a:off x="5010912" y="3483864"/>
            <a:ext cx="1901952" cy="713232"/>
          </a:xfrm>
          <a:prstGeom prst="rect">
            <a:avLst/>
          </a:prstGeom>
          <a:noFill/>
          <a:ln/>
        </p:spPr>
        <p:txBody>
          <a:bodyPr wrap="square" lIns="0" tIns="0" rIns="0" bIns="0" rtlCol="0" anchor="ctr"/>
          <a:lstStyle/>
          <a:p>
            <a:pPr marL="0" indent="0" algn="ctr">
              <a:buNone/>
            </a:pPr>
            <a:r>
              <a:rPr lang="en-US" sz="4000" b="1" dirty="0">
                <a:solidFill>
                  <a:srgbClr val="EB6834"/>
                </a:solidFill>
                <a:latin typeface="Cambria" pitchFamily="34" charset="0"/>
                <a:ea typeface="Cambria" pitchFamily="34" charset="-122"/>
                <a:cs typeface="Cambria" pitchFamily="34" charset="-120"/>
              </a:rPr>
              <a:t>9.1M</a:t>
            </a:r>
            <a:endParaRPr lang="en-US" sz="4000" dirty="0"/>
          </a:p>
        </p:txBody>
      </p:sp>
      <p:sp>
        <p:nvSpPr>
          <p:cNvPr id="14" name="Text 12"/>
          <p:cNvSpPr/>
          <p:nvPr/>
        </p:nvSpPr>
        <p:spPr>
          <a:xfrm>
            <a:off x="5157216" y="4206240"/>
            <a:ext cx="1609344" cy="502920"/>
          </a:xfrm>
          <a:prstGeom prst="rect">
            <a:avLst/>
          </a:prstGeom>
          <a:noFill/>
          <a:ln/>
        </p:spPr>
        <p:txBody>
          <a:bodyPr wrap="square" lIns="0" tIns="0" rIns="0" bIns="0" rtlCol="0" anchor="t"/>
          <a:lstStyle/>
          <a:p>
            <a:pPr marL="0" indent="0" algn="ctr">
              <a:buNone/>
            </a:pPr>
            <a:r>
              <a:rPr lang="en-US" sz="1200" dirty="0">
                <a:solidFill>
                  <a:srgbClr val="5D6B7A"/>
                </a:solidFill>
                <a:latin typeface="Calibri" pitchFamily="34" charset="0"/>
                <a:ea typeface="Calibri" pitchFamily="34" charset="-122"/>
                <a:cs typeface="Calibri" pitchFamily="34" charset="-120"/>
              </a:rPr>
              <a:t>Events used, after cleaning</a:t>
            </a:r>
            <a:endParaRPr lang="en-US" sz="1200" dirty="0"/>
          </a:p>
        </p:txBody>
      </p:sp>
      <p:sp>
        <p:nvSpPr>
          <p:cNvPr id="15" name="Shape 13"/>
          <p:cNvSpPr/>
          <p:nvPr/>
        </p:nvSpPr>
        <p:spPr>
          <a:xfrm>
            <a:off x="7452360" y="1737360"/>
            <a:ext cx="4206240" cy="3794760"/>
          </a:xfrm>
          <a:prstGeom prst="roundRect">
            <a:avLst>
              <a:gd name="adj" fmla="val 2651"/>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6" name="Text 14"/>
          <p:cNvSpPr/>
          <p:nvPr/>
        </p:nvSpPr>
        <p:spPr>
          <a:xfrm>
            <a:off x="7754112" y="1993392"/>
            <a:ext cx="3611880" cy="548640"/>
          </a:xfrm>
          <a:prstGeom prst="rect">
            <a:avLst/>
          </a:prstGeom>
          <a:noFill/>
          <a:ln/>
        </p:spPr>
        <p:txBody>
          <a:bodyPr wrap="square" lIns="0" tIns="0" rIns="0" bIns="0" rtlCol="0" anchor="t"/>
          <a:lstStyle/>
          <a:p>
            <a:pPr marL="0" indent="0">
              <a:buNone/>
            </a:pPr>
            <a:r>
              <a:rPr lang="en-US" sz="1850" b="1" dirty="0">
                <a:solidFill>
                  <a:srgbClr val="0B2545"/>
                </a:solidFill>
                <a:latin typeface="Cambria" pitchFamily="34" charset="0"/>
                <a:ea typeface="Cambria" pitchFamily="34" charset="-122"/>
                <a:cs typeface="Cambria" pitchFamily="34" charset="-120"/>
              </a:rPr>
              <a:t>The catch, stated up front</a:t>
            </a:r>
            <a:endParaRPr lang="en-US" sz="1850" dirty="0"/>
          </a:p>
        </p:txBody>
      </p:sp>
      <p:sp>
        <p:nvSpPr>
          <p:cNvPr id="17" name="Text 15"/>
          <p:cNvSpPr/>
          <p:nvPr/>
        </p:nvSpPr>
        <p:spPr>
          <a:xfrm>
            <a:off x="7754112" y="2578608"/>
            <a:ext cx="3611880" cy="548640"/>
          </a:xfrm>
          <a:prstGeom prst="rect">
            <a:avLst/>
          </a:prstGeom>
          <a:noFill/>
          <a:ln/>
        </p:spPr>
        <p:txBody>
          <a:bodyPr wrap="square" lIns="0" tIns="0" rIns="0" bIns="0" rtlCol="0" anchor="t"/>
          <a:lstStyle/>
          <a:p>
            <a:pPr marL="0" indent="0">
              <a:lnSpc>
                <a:spcPts val="2100"/>
              </a:lnSpc>
              <a:buNone/>
            </a:pPr>
            <a:r>
              <a:rPr lang="en-US" sz="1450" b="1" dirty="0">
                <a:solidFill>
                  <a:srgbClr val="EB6834"/>
                </a:solidFill>
                <a:latin typeface="Calibri" pitchFamily="34" charset="0"/>
                <a:ea typeface="Calibri" pitchFamily="34" charset="-122"/>
                <a:cs typeface="Calibri" pitchFamily="34" charset="-120"/>
              </a:rPr>
              <a:t>GDELT counts news reports, not verified incidents.</a:t>
            </a:r>
            <a:endParaRPr lang="en-US" sz="1450" dirty="0"/>
          </a:p>
        </p:txBody>
      </p:sp>
      <p:sp>
        <p:nvSpPr>
          <p:cNvPr id="18" name="Text 16"/>
          <p:cNvSpPr/>
          <p:nvPr/>
        </p:nvSpPr>
        <p:spPr>
          <a:xfrm>
            <a:off x="7754112" y="3200400"/>
            <a:ext cx="3611880" cy="1463040"/>
          </a:xfrm>
          <a:prstGeom prst="rect">
            <a:avLst/>
          </a:prstGeom>
          <a:noFill/>
          <a:ln/>
        </p:spPr>
        <p:txBody>
          <a:bodyPr wrap="square" lIns="0" tIns="0" rIns="0" bIns="0" rtlCol="0" anchor="t"/>
          <a:lstStyle/>
          <a:p>
            <a:pPr marL="0" indent="0">
              <a:lnSpc>
                <a:spcPts val="2100"/>
              </a:lnSpc>
              <a:buNone/>
            </a:pPr>
            <a:r>
              <a:rPr lang="en-US" sz="1400" dirty="0">
                <a:solidFill>
                  <a:srgbClr val="16202B"/>
                </a:solidFill>
                <a:latin typeface="Calibri" pitchFamily="34" charset="0"/>
                <a:ea typeface="Calibri" pitchFamily="34" charset="-122"/>
                <a:cs typeface="Calibri" pitchFamily="34" charset="-120"/>
              </a:rPr>
              <a:t>So it measures reporting about the world rather than the world itself. Coverage rises when a country becomes newsworthy for any reason: an election, a summit, a visiting correspondent.</a:t>
            </a:r>
            <a:endParaRPr lang="en-US" sz="1400" dirty="0"/>
          </a:p>
        </p:txBody>
      </p:sp>
      <p:sp>
        <p:nvSpPr>
          <p:cNvPr id="19" name="Text 17"/>
          <p:cNvSpPr/>
          <p:nvPr/>
        </p:nvSpPr>
        <p:spPr>
          <a:xfrm>
            <a:off x="7754112" y="4709160"/>
            <a:ext cx="3611880" cy="685800"/>
          </a:xfrm>
          <a:prstGeom prst="rect">
            <a:avLst/>
          </a:prstGeom>
          <a:noFill/>
          <a:ln/>
        </p:spPr>
        <p:txBody>
          <a:bodyPr wrap="square" lIns="0" tIns="0" rIns="0" bIns="0" rtlCol="0" anchor="t"/>
          <a:lstStyle/>
          <a:p>
            <a:pPr marL="0" indent="0">
              <a:lnSpc>
                <a:spcPts val="1800"/>
              </a:lnSpc>
              <a:buNone/>
            </a:pPr>
            <a:r>
              <a:rPr lang="en-US" sz="1250" i="1" dirty="0">
                <a:solidFill>
                  <a:srgbClr val="5D6B7A"/>
                </a:solidFill>
                <a:latin typeface="Calibri" pitchFamily="34" charset="0"/>
                <a:ea typeface="Calibri" pitchFamily="34" charset="-122"/>
                <a:cs typeface="Calibri" pitchFamily="34" charset="-120"/>
              </a:rPr>
              <a:t>This comes back in the limitations. It is the biggest caveat on everything that follows.</a:t>
            </a:r>
            <a:endParaRPr lang="en-US" sz="1250" dirty="0"/>
          </a:p>
        </p:txBody>
      </p:sp>
      <p:sp>
        <p:nvSpPr>
          <p:cNvPr id="20" name="Text 18"/>
          <p:cNvSpPr/>
          <p:nvPr/>
        </p:nvSpPr>
        <p:spPr>
          <a:xfrm>
            <a:off x="566928" y="5870448"/>
            <a:ext cx="6583680" cy="457200"/>
          </a:xfrm>
          <a:prstGeom prst="rect">
            <a:avLst/>
          </a:prstGeom>
          <a:noFill/>
          <a:ln/>
        </p:spPr>
        <p:txBody>
          <a:bodyPr wrap="square" lIns="0" tIns="0" rIns="0" bIns="0" rtlCol="0" anchor="ctr"/>
          <a:lstStyle/>
          <a:p>
            <a:pPr marL="0" indent="0">
              <a:buNone/>
            </a:pPr>
            <a:r>
              <a:rPr lang="en-US" sz="1250" dirty="0">
                <a:solidFill>
                  <a:srgbClr val="5D6B7A"/>
                </a:solidFill>
                <a:latin typeface="Calibri" pitchFamily="34" charset="0"/>
                <a:ea typeface="Calibri" pitchFamily="34" charset="-122"/>
                <a:cs typeface="Calibri" pitchFamily="34" charset="-120"/>
              </a:rPr>
              <a:t>Free to download · 96 files per day · 61 columns per event · February 2015 to today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THE TARGET</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"A spike" means unusual for that country</a:t>
            </a:r>
            <a:endParaRPr lang="en-US" sz="3300" dirty="0"/>
          </a:p>
        </p:txBody>
      </p:sp>
      <p:pic>
        <p:nvPicPr>
          <p:cNvPr id="5" name="Image 0" descr="/home/claude/figs/fig11_spike_definition.png"/>
          <p:cNvPicPr>
            <a:picLocks noChangeAspect="1"/>
          </p:cNvPicPr>
          <p:nvPr/>
        </p:nvPicPr>
        <p:blipFill>
          <a:blip r:embed="rId3"/>
          <a:stretch>
            <a:fillRect/>
          </a:stretch>
        </p:blipFill>
        <p:spPr>
          <a:xfrm>
            <a:off x="566928" y="1810512"/>
            <a:ext cx="6903720" cy="3968258"/>
          </a:xfrm>
          <a:prstGeom prst="rect">
            <a:avLst/>
          </a:prstGeom>
        </p:spPr>
      </p:pic>
      <p:sp>
        <p:nvSpPr>
          <p:cNvPr id="6" name="Shape 3"/>
          <p:cNvSpPr/>
          <p:nvPr/>
        </p:nvSpPr>
        <p:spPr>
          <a:xfrm>
            <a:off x="7818120" y="1810512"/>
            <a:ext cx="3840480" cy="3794760"/>
          </a:xfrm>
          <a:prstGeom prst="roundRect">
            <a:avLst>
              <a:gd name="adj" fmla="val 2651"/>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7" name="Text 4"/>
          <p:cNvSpPr/>
          <p:nvPr/>
        </p:nvSpPr>
        <p:spPr>
          <a:xfrm>
            <a:off x="8101584" y="2066544"/>
            <a:ext cx="3273552" cy="548640"/>
          </a:xfrm>
          <a:prstGeom prst="rect">
            <a:avLst/>
          </a:prstGeom>
          <a:noFill/>
          <a:ln/>
        </p:spPr>
        <p:txBody>
          <a:bodyPr wrap="square" lIns="0" tIns="0" rIns="0" bIns="0" rtlCol="0" anchor="t"/>
          <a:lstStyle/>
          <a:p>
            <a:pPr marL="0" indent="0">
              <a:lnSpc>
                <a:spcPts val="2200"/>
              </a:lnSpc>
              <a:buNone/>
            </a:pPr>
            <a:r>
              <a:rPr lang="en-US" sz="1750" b="1" dirty="0">
                <a:solidFill>
                  <a:srgbClr val="0B2545"/>
                </a:solidFill>
                <a:latin typeface="Cambria" pitchFamily="34" charset="0"/>
                <a:ea typeface="Cambria" pitchFamily="34" charset="-122"/>
                <a:cs typeface="Cambria" pitchFamily="34" charset="-120"/>
              </a:rPr>
              <a:t>Why relative, not absolute</a:t>
            </a:r>
            <a:endParaRPr lang="en-US" sz="1750" dirty="0"/>
          </a:p>
        </p:txBody>
      </p:sp>
      <p:sp>
        <p:nvSpPr>
          <p:cNvPr id="8" name="Text 5"/>
          <p:cNvSpPr/>
          <p:nvPr/>
        </p:nvSpPr>
        <p:spPr>
          <a:xfrm>
            <a:off x="8101584" y="2688336"/>
            <a:ext cx="3273552" cy="1920240"/>
          </a:xfrm>
          <a:prstGeom prst="rect">
            <a:avLst/>
          </a:prstGeom>
          <a:noFill/>
          <a:ln/>
        </p:spPr>
        <p:txBody>
          <a:bodyPr wrap="square" lIns="0" tIns="0" rIns="0" bIns="0" rtlCol="0" anchor="t"/>
          <a:lstStyle/>
          <a:p>
            <a:pPr marL="0" indent="0">
              <a:lnSpc>
                <a:spcPts val="2000"/>
              </a:lnSpc>
              <a:buNone/>
            </a:pPr>
            <a:r>
              <a:rPr lang="en-US" sz="1350" dirty="0">
                <a:solidFill>
                  <a:srgbClr val="16202B"/>
                </a:solidFill>
                <a:latin typeface="Calibri" pitchFamily="34" charset="0"/>
                <a:ea typeface="Calibri" pitchFamily="34" charset="-122"/>
                <a:cs typeface="Calibri" pitchFamily="34" charset="-120"/>
              </a:rPr>
              <a:t>Absolute counts are dominated by a handful of chronically violent countries. A model trained on those would just learn a fixed ranking and look impressive while telling nobody anything new.</a:t>
            </a:r>
            <a:endParaRPr lang="en-US" sz="1350" dirty="0"/>
          </a:p>
        </p:txBody>
      </p:sp>
      <p:sp>
        <p:nvSpPr>
          <p:cNvPr id="9" name="Text 6"/>
          <p:cNvSpPr/>
          <p:nvPr/>
        </p:nvSpPr>
        <p:spPr>
          <a:xfrm>
            <a:off x="8101584" y="4828032"/>
            <a:ext cx="3273552" cy="594360"/>
          </a:xfrm>
          <a:prstGeom prst="rect">
            <a:avLst/>
          </a:prstGeom>
          <a:noFill/>
          <a:ln/>
        </p:spPr>
        <p:txBody>
          <a:bodyPr wrap="square" lIns="0" tIns="0" rIns="0" bIns="0" rtlCol="0" anchor="t"/>
          <a:lstStyle/>
          <a:p>
            <a:pPr marL="0" indent="0">
              <a:lnSpc>
                <a:spcPts val="2000"/>
              </a:lnSpc>
              <a:buNone/>
            </a:pPr>
            <a:r>
              <a:rPr lang="en-US" sz="1350" b="1" dirty="0">
                <a:solidFill>
                  <a:srgbClr val="EB6834"/>
                </a:solidFill>
                <a:latin typeface="Calibri" pitchFamily="34" charset="0"/>
                <a:ea typeface="Calibri" pitchFamily="34" charset="-122"/>
                <a:cs typeface="Calibri" pitchFamily="34" charset="-120"/>
              </a:rPr>
              <a:t>Escalation is the useful question.</a:t>
            </a:r>
            <a:endParaRPr lang="en-US" sz="1350" dirty="0"/>
          </a:p>
        </p:txBody>
      </p:sp>
      <p:sp>
        <p:nvSpPr>
          <p:cNvPr id="10" name="Text 7"/>
          <p:cNvSpPr/>
          <p:nvPr/>
        </p:nvSpPr>
        <p:spPr>
          <a:xfrm>
            <a:off x="566928" y="6053328"/>
            <a:ext cx="11064240" cy="411480"/>
          </a:xfrm>
          <a:prstGeom prst="rect">
            <a:avLst/>
          </a:prstGeom>
          <a:noFill/>
          <a:ln/>
        </p:spPr>
        <p:txBody>
          <a:bodyPr wrap="square" lIns="0" tIns="0" rIns="0" bIns="0" rtlCol="0" anchor="ctr"/>
          <a:lstStyle/>
          <a:p>
            <a:pPr marL="0" indent="0">
              <a:buNone/>
            </a:pPr>
            <a:r>
              <a:rPr lang="en-US" sz="1200" i="1" dirty="0">
                <a:solidFill>
                  <a:srgbClr val="5D6B7A"/>
                </a:solidFill>
                <a:latin typeface="Calibri" pitchFamily="34" charset="0"/>
                <a:ea typeface="Calibri" pitchFamily="34" charset="-122"/>
                <a:cs typeface="Calibri" pitchFamily="34" charset="-120"/>
              </a:rPr>
              <a:t>Flagged when the violent-event count is at least twice its own trailing eight-week average, and at least eight events. The floor stops small numbers from faking a crisis.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WHY THIS IS A BIG-DATA PROBLEM</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Huge at the front, small at the back</a:t>
            </a:r>
            <a:endParaRPr lang="en-US" sz="3300" dirty="0"/>
          </a:p>
        </p:txBody>
      </p:sp>
      <p:sp>
        <p:nvSpPr>
          <p:cNvPr id="5" name="Shape 3"/>
          <p:cNvSpPr/>
          <p:nvPr/>
        </p:nvSpPr>
        <p:spPr>
          <a:xfrm>
            <a:off x="566928" y="1920240"/>
            <a:ext cx="2560320" cy="1481328"/>
          </a:xfrm>
          <a:prstGeom prst="roundRect">
            <a:avLst>
              <a:gd name="adj" fmla="val 679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6" name="Text 4"/>
          <p:cNvSpPr/>
          <p:nvPr/>
        </p:nvSpPr>
        <p:spPr>
          <a:xfrm>
            <a:off x="585216" y="2066544"/>
            <a:ext cx="2523744" cy="713232"/>
          </a:xfrm>
          <a:prstGeom prst="rect">
            <a:avLst/>
          </a:prstGeom>
          <a:noFill/>
          <a:ln/>
        </p:spPr>
        <p:txBody>
          <a:bodyPr wrap="square" lIns="0" tIns="0" rIns="0" bIns="0" rtlCol="0" anchor="ctr"/>
          <a:lstStyle/>
          <a:p>
            <a:pPr marL="0" indent="0" algn="ctr">
              <a:buNone/>
            </a:pPr>
            <a:r>
              <a:rPr lang="en-US" sz="4000" b="1" dirty="0">
                <a:solidFill>
                  <a:srgbClr val="2A78D6"/>
                </a:solidFill>
                <a:latin typeface="Cambria" pitchFamily="34" charset="0"/>
                <a:ea typeface="Cambria" pitchFamily="34" charset="-122"/>
                <a:cs typeface="Cambria" pitchFamily="34" charset="-120"/>
              </a:rPr>
              <a:t>7,472</a:t>
            </a:r>
            <a:endParaRPr lang="en-US" sz="4000" dirty="0"/>
          </a:p>
        </p:txBody>
      </p:sp>
      <p:sp>
        <p:nvSpPr>
          <p:cNvPr id="7" name="Text 5"/>
          <p:cNvSpPr/>
          <p:nvPr/>
        </p:nvSpPr>
        <p:spPr>
          <a:xfrm>
            <a:off x="731520" y="2788920"/>
            <a:ext cx="2231136" cy="502920"/>
          </a:xfrm>
          <a:prstGeom prst="rect">
            <a:avLst/>
          </a:prstGeom>
          <a:noFill/>
          <a:ln/>
        </p:spPr>
        <p:txBody>
          <a:bodyPr wrap="square" lIns="0" tIns="0" rIns="0" bIns="0" rtlCol="0" anchor="t"/>
          <a:lstStyle/>
          <a:p>
            <a:pPr marL="0" indent="0" algn="ctr">
              <a:buNone/>
            </a:pPr>
            <a:r>
              <a:rPr lang="en-US" sz="1200" dirty="0">
                <a:solidFill>
                  <a:srgbClr val="5D6B7A"/>
                </a:solidFill>
                <a:latin typeface="Calibri" pitchFamily="34" charset="0"/>
                <a:ea typeface="Calibri" pitchFamily="34" charset="-122"/>
                <a:cs typeface="Calibri" pitchFamily="34" charset="-120"/>
              </a:rPr>
              <a:t>raw files downloaded</a:t>
            </a:r>
            <a:endParaRPr lang="en-US" sz="1200" dirty="0"/>
          </a:p>
        </p:txBody>
      </p:sp>
      <p:sp>
        <p:nvSpPr>
          <p:cNvPr id="8" name="Shape 6"/>
          <p:cNvSpPr/>
          <p:nvPr/>
        </p:nvSpPr>
        <p:spPr>
          <a:xfrm>
            <a:off x="3401568" y="1920240"/>
            <a:ext cx="2560320" cy="1481328"/>
          </a:xfrm>
          <a:prstGeom prst="roundRect">
            <a:avLst>
              <a:gd name="adj" fmla="val 679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9" name="Text 7"/>
          <p:cNvSpPr/>
          <p:nvPr/>
        </p:nvSpPr>
        <p:spPr>
          <a:xfrm>
            <a:off x="3419856" y="2066544"/>
            <a:ext cx="2523744" cy="713232"/>
          </a:xfrm>
          <a:prstGeom prst="rect">
            <a:avLst/>
          </a:prstGeom>
          <a:noFill/>
          <a:ln/>
        </p:spPr>
        <p:txBody>
          <a:bodyPr wrap="square" lIns="0" tIns="0" rIns="0" bIns="0" rtlCol="0" anchor="ctr"/>
          <a:lstStyle/>
          <a:p>
            <a:pPr marL="0" indent="0" algn="ctr">
              <a:buNone/>
            </a:pPr>
            <a:r>
              <a:rPr lang="en-US" sz="4000" b="1" dirty="0">
                <a:solidFill>
                  <a:srgbClr val="2A78D6"/>
                </a:solidFill>
                <a:latin typeface="Cambria" pitchFamily="34" charset="0"/>
                <a:ea typeface="Cambria" pitchFamily="34" charset="-122"/>
                <a:cs typeface="Cambria" pitchFamily="34" charset="-120"/>
              </a:rPr>
              <a:t>9.1M</a:t>
            </a:r>
            <a:endParaRPr lang="en-US" sz="4000" dirty="0"/>
          </a:p>
        </p:txBody>
      </p:sp>
      <p:sp>
        <p:nvSpPr>
          <p:cNvPr id="10" name="Text 8"/>
          <p:cNvSpPr/>
          <p:nvPr/>
        </p:nvSpPr>
        <p:spPr>
          <a:xfrm>
            <a:off x="3566160" y="2788920"/>
            <a:ext cx="2231136" cy="502920"/>
          </a:xfrm>
          <a:prstGeom prst="rect">
            <a:avLst/>
          </a:prstGeom>
          <a:noFill/>
          <a:ln/>
        </p:spPr>
        <p:txBody>
          <a:bodyPr wrap="square" lIns="0" tIns="0" rIns="0" bIns="0" rtlCol="0" anchor="t"/>
          <a:lstStyle/>
          <a:p>
            <a:pPr marL="0" indent="0" algn="ctr">
              <a:buNone/>
            </a:pPr>
            <a:r>
              <a:rPr lang="en-US" sz="1200" dirty="0">
                <a:solidFill>
                  <a:srgbClr val="5D6B7A"/>
                </a:solidFill>
                <a:latin typeface="Calibri" pitchFamily="34" charset="0"/>
                <a:ea typeface="Calibri" pitchFamily="34" charset="-122"/>
                <a:cs typeface="Calibri" pitchFamily="34" charset="-120"/>
              </a:rPr>
              <a:t>events scanned in Spark</a:t>
            </a:r>
            <a:endParaRPr lang="en-US" sz="1200" dirty="0"/>
          </a:p>
        </p:txBody>
      </p:sp>
      <p:sp>
        <p:nvSpPr>
          <p:cNvPr id="11" name="Shape 9"/>
          <p:cNvSpPr/>
          <p:nvPr/>
        </p:nvSpPr>
        <p:spPr>
          <a:xfrm>
            <a:off x="6236208" y="1920240"/>
            <a:ext cx="2560320" cy="1481328"/>
          </a:xfrm>
          <a:prstGeom prst="roundRect">
            <a:avLst>
              <a:gd name="adj" fmla="val 679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2" name="Text 10"/>
          <p:cNvSpPr/>
          <p:nvPr/>
        </p:nvSpPr>
        <p:spPr>
          <a:xfrm>
            <a:off x="6254496" y="2066544"/>
            <a:ext cx="2523744" cy="713232"/>
          </a:xfrm>
          <a:prstGeom prst="rect">
            <a:avLst/>
          </a:prstGeom>
          <a:noFill/>
          <a:ln/>
        </p:spPr>
        <p:txBody>
          <a:bodyPr wrap="square" lIns="0" tIns="0" rIns="0" bIns="0" rtlCol="0" anchor="ctr"/>
          <a:lstStyle/>
          <a:p>
            <a:pPr marL="0" indent="0" algn="ctr">
              <a:buNone/>
            </a:pPr>
            <a:r>
              <a:rPr lang="en-US" sz="4000" b="1" dirty="0">
                <a:solidFill>
                  <a:srgbClr val="EB6834"/>
                </a:solidFill>
                <a:latin typeface="Cambria" pitchFamily="34" charset="0"/>
                <a:ea typeface="Cambria" pitchFamily="34" charset="-122"/>
                <a:cs typeface="Cambria" pitchFamily="34" charset="-120"/>
              </a:rPr>
              <a:t>15,930</a:t>
            </a:r>
            <a:endParaRPr lang="en-US" sz="4000" dirty="0"/>
          </a:p>
        </p:txBody>
      </p:sp>
      <p:sp>
        <p:nvSpPr>
          <p:cNvPr id="13" name="Text 11"/>
          <p:cNvSpPr/>
          <p:nvPr/>
        </p:nvSpPr>
        <p:spPr>
          <a:xfrm>
            <a:off x="6400800" y="2788920"/>
            <a:ext cx="2231136" cy="502920"/>
          </a:xfrm>
          <a:prstGeom prst="rect">
            <a:avLst/>
          </a:prstGeom>
          <a:noFill/>
          <a:ln/>
        </p:spPr>
        <p:txBody>
          <a:bodyPr wrap="square" lIns="0" tIns="0" rIns="0" bIns="0" rtlCol="0" anchor="t"/>
          <a:lstStyle/>
          <a:p>
            <a:pPr marL="0" indent="0" algn="ctr">
              <a:buNone/>
            </a:pPr>
            <a:r>
              <a:rPr lang="en-US" sz="1200" dirty="0">
                <a:solidFill>
                  <a:srgbClr val="5D6B7A"/>
                </a:solidFill>
                <a:latin typeface="Calibri" pitchFamily="34" charset="0"/>
                <a:ea typeface="Calibri" pitchFamily="34" charset="-122"/>
                <a:cs typeface="Calibri" pitchFamily="34" charset="-120"/>
              </a:rPr>
              <a:t>country-week rows out</a:t>
            </a:r>
            <a:endParaRPr lang="en-US" sz="1200" dirty="0"/>
          </a:p>
        </p:txBody>
      </p:sp>
      <p:sp>
        <p:nvSpPr>
          <p:cNvPr id="14" name="Shape 12"/>
          <p:cNvSpPr/>
          <p:nvPr/>
        </p:nvSpPr>
        <p:spPr>
          <a:xfrm>
            <a:off x="9070848" y="1920240"/>
            <a:ext cx="2560320" cy="1481328"/>
          </a:xfrm>
          <a:prstGeom prst="roundRect">
            <a:avLst>
              <a:gd name="adj" fmla="val 679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5" name="Text 13"/>
          <p:cNvSpPr/>
          <p:nvPr/>
        </p:nvSpPr>
        <p:spPr>
          <a:xfrm>
            <a:off x="9089136" y="2066544"/>
            <a:ext cx="2523744" cy="713232"/>
          </a:xfrm>
          <a:prstGeom prst="rect">
            <a:avLst/>
          </a:prstGeom>
          <a:noFill/>
          <a:ln/>
        </p:spPr>
        <p:txBody>
          <a:bodyPr wrap="square" lIns="0" tIns="0" rIns="0" bIns="0" rtlCol="0" anchor="ctr"/>
          <a:lstStyle/>
          <a:p>
            <a:pPr marL="0" indent="0" algn="ctr">
              <a:buNone/>
            </a:pPr>
            <a:r>
              <a:rPr lang="en-US" sz="4000" b="1" dirty="0">
                <a:solidFill>
                  <a:srgbClr val="EB6834"/>
                </a:solidFill>
                <a:latin typeface="Cambria" pitchFamily="34" charset="0"/>
                <a:ea typeface="Cambria" pitchFamily="34" charset="-122"/>
                <a:cs typeface="Cambria" pitchFamily="34" charset="-120"/>
              </a:rPr>
              <a:t>42</a:t>
            </a:r>
            <a:endParaRPr lang="en-US" sz="4000" dirty="0"/>
          </a:p>
        </p:txBody>
      </p:sp>
      <p:sp>
        <p:nvSpPr>
          <p:cNvPr id="16" name="Text 14"/>
          <p:cNvSpPr/>
          <p:nvPr/>
        </p:nvSpPr>
        <p:spPr>
          <a:xfrm>
            <a:off x="9235440" y="2788920"/>
            <a:ext cx="2231136" cy="502920"/>
          </a:xfrm>
          <a:prstGeom prst="rect">
            <a:avLst/>
          </a:prstGeom>
          <a:noFill/>
          <a:ln/>
        </p:spPr>
        <p:txBody>
          <a:bodyPr wrap="square" lIns="0" tIns="0" rIns="0" bIns="0" rtlCol="0" anchor="t"/>
          <a:lstStyle/>
          <a:p>
            <a:pPr marL="0" indent="0" algn="ctr">
              <a:buNone/>
            </a:pPr>
            <a:r>
              <a:rPr lang="en-US" sz="1200" dirty="0">
                <a:solidFill>
                  <a:srgbClr val="5D6B7A"/>
                </a:solidFill>
                <a:latin typeface="Calibri" pitchFamily="34" charset="0"/>
                <a:ea typeface="Calibri" pitchFamily="34" charset="-122"/>
                <a:cs typeface="Calibri" pitchFamily="34" charset="-120"/>
              </a:rPr>
              <a:t>features per row</a:t>
            </a:r>
            <a:endParaRPr lang="en-US" sz="1200" dirty="0"/>
          </a:p>
        </p:txBody>
      </p:sp>
      <p:sp>
        <p:nvSpPr>
          <p:cNvPr id="17" name="Shape 15"/>
          <p:cNvSpPr/>
          <p:nvPr/>
        </p:nvSpPr>
        <p:spPr>
          <a:xfrm>
            <a:off x="566928" y="3794760"/>
            <a:ext cx="5349240" cy="1920240"/>
          </a:xfrm>
          <a:prstGeom prst="roundRect">
            <a:avLst>
              <a:gd name="adj" fmla="val 5238"/>
            </a:avLst>
          </a:prstGeom>
          <a:solidFill>
            <a:srgbClr val="0B2545"/>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8" name="Text 16"/>
          <p:cNvSpPr/>
          <p:nvPr/>
        </p:nvSpPr>
        <p:spPr>
          <a:xfrm>
            <a:off x="868680" y="4023360"/>
            <a:ext cx="484632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12 minutes</a:t>
            </a:r>
            <a:endParaRPr lang="en-US" sz="3000" dirty="0"/>
          </a:p>
        </p:txBody>
      </p:sp>
      <p:sp>
        <p:nvSpPr>
          <p:cNvPr id="19" name="Text 17"/>
          <p:cNvSpPr/>
          <p:nvPr/>
        </p:nvSpPr>
        <p:spPr>
          <a:xfrm>
            <a:off x="868680" y="4663440"/>
            <a:ext cx="4846320" cy="914400"/>
          </a:xfrm>
          <a:prstGeom prst="rect">
            <a:avLst/>
          </a:prstGeom>
          <a:noFill/>
          <a:ln/>
        </p:spPr>
        <p:txBody>
          <a:bodyPr wrap="square" lIns="0" tIns="0" rIns="0" bIns="0" rtlCol="0" anchor="t"/>
          <a:lstStyle/>
          <a:p>
            <a:pPr marL="0" indent="0">
              <a:lnSpc>
                <a:spcPts val="2000"/>
              </a:lnSpc>
              <a:buNone/>
            </a:pPr>
            <a:r>
              <a:rPr lang="en-US" sz="1350" dirty="0">
                <a:solidFill>
                  <a:srgbClr val="CADCFC"/>
                </a:solidFill>
                <a:latin typeface="Calibri" pitchFamily="34" charset="0"/>
                <a:ea typeface="Calibri" pitchFamily="34" charset="-122"/>
                <a:cs typeface="Calibri" pitchFamily="34" charset="-120"/>
              </a:rPr>
              <a:t>to scan and aggregate the raw events in Spark. This is the only stage that genuinely needs a cluster to grow.</a:t>
            </a:r>
            <a:endParaRPr lang="en-US" sz="1350" dirty="0"/>
          </a:p>
        </p:txBody>
      </p:sp>
      <p:sp>
        <p:nvSpPr>
          <p:cNvPr id="20" name="Shape 18"/>
          <p:cNvSpPr/>
          <p:nvPr/>
        </p:nvSpPr>
        <p:spPr>
          <a:xfrm>
            <a:off x="6281928" y="3794760"/>
            <a:ext cx="5349240" cy="1920240"/>
          </a:xfrm>
          <a:prstGeom prst="roundRect">
            <a:avLst>
              <a:gd name="adj" fmla="val 5238"/>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21" name="Text 19"/>
          <p:cNvSpPr/>
          <p:nvPr/>
        </p:nvSpPr>
        <p:spPr>
          <a:xfrm>
            <a:off x="6583680" y="4023360"/>
            <a:ext cx="4754880" cy="640080"/>
          </a:xfrm>
          <a:prstGeom prst="rect">
            <a:avLst/>
          </a:prstGeom>
          <a:noFill/>
          <a:ln/>
        </p:spPr>
        <p:txBody>
          <a:bodyPr wrap="square" lIns="0" tIns="0" rIns="0" bIns="0" rtlCol="0" anchor="ctr"/>
          <a:lstStyle/>
          <a:p>
            <a:pPr marL="0" indent="0">
              <a:buNone/>
            </a:pPr>
            <a:r>
              <a:rPr lang="en-US" sz="3000" b="1" dirty="0">
                <a:solidFill>
                  <a:srgbClr val="EB6834"/>
                </a:solidFill>
                <a:latin typeface="Cambria" pitchFamily="34" charset="0"/>
                <a:ea typeface="Cambria" pitchFamily="34" charset="-122"/>
                <a:cs typeface="Cambria" pitchFamily="34" charset="-120"/>
              </a:rPr>
              <a:t>59 seconds</a:t>
            </a:r>
            <a:endParaRPr lang="en-US" sz="3000" dirty="0"/>
          </a:p>
        </p:txBody>
      </p:sp>
      <p:sp>
        <p:nvSpPr>
          <p:cNvPr id="22" name="Text 20"/>
          <p:cNvSpPr/>
          <p:nvPr/>
        </p:nvSpPr>
        <p:spPr>
          <a:xfrm>
            <a:off x="6583680" y="4663440"/>
            <a:ext cx="4754880" cy="914400"/>
          </a:xfrm>
          <a:prstGeom prst="rect">
            <a:avLst/>
          </a:prstGeom>
          <a:noFill/>
          <a:ln/>
        </p:spPr>
        <p:txBody>
          <a:bodyPr wrap="square" lIns="0" tIns="0" rIns="0" bIns="0" rtlCol="0" anchor="t"/>
          <a:lstStyle/>
          <a:p>
            <a:pPr marL="0" indent="0">
              <a:lnSpc>
                <a:spcPts val="2000"/>
              </a:lnSpc>
              <a:buNone/>
            </a:pPr>
            <a:r>
              <a:rPr lang="en-US" sz="1350" dirty="0">
                <a:solidFill>
                  <a:srgbClr val="16202B"/>
                </a:solidFill>
                <a:latin typeface="Calibri" pitchFamily="34" charset="0"/>
                <a:ea typeface="Calibri" pitchFamily="34" charset="-122"/>
                <a:cs typeface="Calibri" pitchFamily="34" charset="-120"/>
              </a:rPr>
              <a:t>to train and evaluate every model at all four horizons, because the table is sized by the calendar, not by the feed.</a:t>
            </a:r>
            <a:endParaRPr lang="en-US" sz="1350" dirty="0"/>
          </a:p>
        </p:txBody>
      </p:sp>
      <p:sp>
        <p:nvSpPr>
          <p:cNvPr id="23" name="Text 21"/>
          <p:cNvSpPr/>
          <p:nvPr/>
        </p:nvSpPr>
        <p:spPr>
          <a:xfrm>
            <a:off x="566928" y="5943600"/>
            <a:ext cx="10058400" cy="457200"/>
          </a:xfrm>
          <a:prstGeom prst="rect">
            <a:avLst/>
          </a:prstGeom>
          <a:noFill/>
          <a:ln/>
        </p:spPr>
        <p:txBody>
          <a:bodyPr wrap="square" lIns="0" tIns="0" rIns="0" bIns="0" rtlCol="0" anchor="ctr"/>
          <a:lstStyle/>
          <a:p>
            <a:pPr marL="0" indent="0">
              <a:buNone/>
            </a:pPr>
            <a:r>
              <a:rPr lang="en-US" sz="1300" i="1" dirty="0">
                <a:solidFill>
                  <a:srgbClr val="5D6B7A"/>
                </a:solidFill>
                <a:latin typeface="Calibri" pitchFamily="34" charset="0"/>
                <a:ea typeface="Calibri" pitchFamily="34" charset="-122"/>
                <a:cs typeface="Calibri" pitchFamily="34" charset="-120"/>
              </a:rPr>
              <a:t>Sizing a cluster for this workload means sizing it for one distributed scan and nothing else.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HOW IT WORKS</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Five stages, one command</a:t>
            </a:r>
            <a:endParaRPr lang="en-US" sz="3300" dirty="0"/>
          </a:p>
        </p:txBody>
      </p:sp>
      <p:pic>
        <p:nvPicPr>
          <p:cNvPr id="5" name="Image 0" descr="/home/claude/figs/fig1_pipeline.png"/>
          <p:cNvPicPr>
            <a:picLocks noChangeAspect="1"/>
          </p:cNvPicPr>
          <p:nvPr/>
        </p:nvPicPr>
        <p:blipFill>
          <a:blip r:embed="rId3"/>
          <a:stretch>
            <a:fillRect/>
          </a:stretch>
        </p:blipFill>
        <p:spPr>
          <a:xfrm>
            <a:off x="566928" y="1847088"/>
            <a:ext cx="11064240" cy="2402047"/>
          </a:xfrm>
          <a:prstGeom prst="rect">
            <a:avLst/>
          </a:prstGeom>
        </p:spPr>
      </p:pic>
      <p:sp>
        <p:nvSpPr>
          <p:cNvPr id="6" name="Text 3"/>
          <p:cNvSpPr/>
          <p:nvPr/>
        </p:nvSpPr>
        <p:spPr>
          <a:xfrm>
            <a:off x="566928" y="4553712"/>
            <a:ext cx="1837944" cy="310896"/>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Download</a:t>
            </a:r>
            <a:endParaRPr lang="en-US" sz="1300" dirty="0"/>
          </a:p>
        </p:txBody>
      </p:sp>
      <p:sp>
        <p:nvSpPr>
          <p:cNvPr id="7" name="Text 4"/>
          <p:cNvSpPr/>
          <p:nvPr/>
        </p:nvSpPr>
        <p:spPr>
          <a:xfrm>
            <a:off x="566928" y="4882896"/>
            <a:ext cx="1837944" cy="960120"/>
          </a:xfrm>
          <a:prstGeom prst="rect">
            <a:avLst/>
          </a:prstGeom>
          <a:noFill/>
          <a:ln/>
        </p:spPr>
        <p:txBody>
          <a:bodyPr wrap="square" lIns="0" tIns="0" rIns="0" bIns="0" rtlCol="0" anchor="t"/>
          <a:lstStyle/>
          <a:p>
            <a:pPr marL="0" indent="0">
              <a:lnSpc>
                <a:spcPts val="1500"/>
              </a:lnSpc>
              <a:buNone/>
            </a:pPr>
            <a:r>
              <a:rPr lang="en-US" sz="1100" dirty="0">
                <a:solidFill>
                  <a:srgbClr val="5D6B7A"/>
                </a:solidFill>
                <a:latin typeface="Calibri" pitchFamily="34" charset="0"/>
                <a:ea typeface="Calibri" pitchFamily="34" charset="-122"/>
                <a:cs typeface="Calibri" pitchFamily="34" charset="-120"/>
              </a:rPr>
              <a:t>Keeps 11 of 61 columns and resumes where it stopped.</a:t>
            </a:r>
            <a:endParaRPr lang="en-US" sz="1100" dirty="0"/>
          </a:p>
        </p:txBody>
      </p:sp>
      <p:sp>
        <p:nvSpPr>
          <p:cNvPr id="8" name="Text 5"/>
          <p:cNvSpPr/>
          <p:nvPr/>
        </p:nvSpPr>
        <p:spPr>
          <a:xfrm>
            <a:off x="2868290" y="4553712"/>
            <a:ext cx="1837944" cy="310896"/>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Aggregate</a:t>
            </a:r>
            <a:endParaRPr lang="en-US" sz="1300" dirty="0"/>
          </a:p>
        </p:txBody>
      </p:sp>
      <p:sp>
        <p:nvSpPr>
          <p:cNvPr id="9" name="Text 6"/>
          <p:cNvSpPr/>
          <p:nvPr/>
        </p:nvSpPr>
        <p:spPr>
          <a:xfrm>
            <a:off x="2868290" y="4882896"/>
            <a:ext cx="1837944" cy="960120"/>
          </a:xfrm>
          <a:prstGeom prst="rect">
            <a:avLst/>
          </a:prstGeom>
          <a:noFill/>
          <a:ln/>
        </p:spPr>
        <p:txBody>
          <a:bodyPr wrap="square" lIns="0" tIns="0" rIns="0" bIns="0" rtlCol="0" anchor="t"/>
          <a:lstStyle/>
          <a:p>
            <a:pPr marL="0" indent="0">
              <a:lnSpc>
                <a:spcPts val="1500"/>
              </a:lnSpc>
              <a:buNone/>
            </a:pPr>
            <a:r>
              <a:rPr lang="en-US" sz="1100" dirty="0">
                <a:solidFill>
                  <a:srgbClr val="5D6B7A"/>
                </a:solidFill>
                <a:latin typeface="Calibri" pitchFamily="34" charset="0"/>
                <a:ea typeface="Calibri" pitchFamily="34" charset="-122"/>
                <a:cs typeface="Calibri" pitchFamily="34" charset="-120"/>
              </a:rPr>
              <a:t>Events become one row per country per week, in Spark.</a:t>
            </a:r>
            <a:endParaRPr lang="en-US" sz="1100" dirty="0"/>
          </a:p>
        </p:txBody>
      </p:sp>
      <p:sp>
        <p:nvSpPr>
          <p:cNvPr id="10" name="Text 7"/>
          <p:cNvSpPr/>
          <p:nvPr/>
        </p:nvSpPr>
        <p:spPr>
          <a:xfrm>
            <a:off x="5169652" y="4553712"/>
            <a:ext cx="1837944" cy="310896"/>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Label</a:t>
            </a:r>
            <a:endParaRPr lang="en-US" sz="1300" dirty="0"/>
          </a:p>
        </p:txBody>
      </p:sp>
      <p:sp>
        <p:nvSpPr>
          <p:cNvPr id="11" name="Text 8"/>
          <p:cNvSpPr/>
          <p:nvPr/>
        </p:nvSpPr>
        <p:spPr>
          <a:xfrm>
            <a:off x="5169652" y="4882896"/>
            <a:ext cx="1837944" cy="960120"/>
          </a:xfrm>
          <a:prstGeom prst="rect">
            <a:avLst/>
          </a:prstGeom>
          <a:noFill/>
          <a:ln/>
        </p:spPr>
        <p:txBody>
          <a:bodyPr wrap="square" lIns="0" tIns="0" rIns="0" bIns="0" rtlCol="0" anchor="t"/>
          <a:lstStyle/>
          <a:p>
            <a:pPr marL="0" indent="0">
              <a:lnSpc>
                <a:spcPts val="1500"/>
              </a:lnSpc>
              <a:buNone/>
            </a:pPr>
            <a:r>
              <a:rPr lang="en-US" sz="1100" dirty="0">
                <a:solidFill>
                  <a:srgbClr val="5D6B7A"/>
                </a:solidFill>
                <a:latin typeface="Calibri" pitchFamily="34" charset="0"/>
                <a:ea typeface="Calibri" pitchFamily="34" charset="-122"/>
                <a:cs typeface="Calibri" pitchFamily="34" charset="-120"/>
              </a:rPr>
              <a:t>Flag the weeks that jumped past 2x their own baseline.</a:t>
            </a:r>
            <a:endParaRPr lang="en-US" sz="1100" dirty="0"/>
          </a:p>
        </p:txBody>
      </p:sp>
      <p:sp>
        <p:nvSpPr>
          <p:cNvPr id="12" name="Text 9"/>
          <p:cNvSpPr/>
          <p:nvPr/>
        </p:nvSpPr>
        <p:spPr>
          <a:xfrm>
            <a:off x="7471014" y="4553712"/>
            <a:ext cx="1837944" cy="310896"/>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Train</a:t>
            </a:r>
            <a:endParaRPr lang="en-US" sz="1300" dirty="0"/>
          </a:p>
        </p:txBody>
      </p:sp>
      <p:sp>
        <p:nvSpPr>
          <p:cNvPr id="13" name="Text 10"/>
          <p:cNvSpPr/>
          <p:nvPr/>
        </p:nvSpPr>
        <p:spPr>
          <a:xfrm>
            <a:off x="7471014" y="4882896"/>
            <a:ext cx="1837944" cy="960120"/>
          </a:xfrm>
          <a:prstGeom prst="rect">
            <a:avLst/>
          </a:prstGeom>
          <a:noFill/>
          <a:ln/>
        </p:spPr>
        <p:txBody>
          <a:bodyPr wrap="square" lIns="0" tIns="0" rIns="0" bIns="0" rtlCol="0" anchor="t"/>
          <a:lstStyle/>
          <a:p>
            <a:pPr marL="0" indent="0">
              <a:lnSpc>
                <a:spcPts val="1500"/>
              </a:lnSpc>
              <a:buNone/>
            </a:pPr>
            <a:r>
              <a:rPr lang="en-US" sz="1100" dirty="0">
                <a:solidFill>
                  <a:srgbClr val="5D6B7A"/>
                </a:solidFill>
                <a:latin typeface="Calibri" pitchFamily="34" charset="0"/>
                <a:ea typeface="Calibri" pitchFamily="34" charset="-122"/>
                <a:cs typeface="Calibri" pitchFamily="34" charset="-120"/>
              </a:rPr>
              <a:t>Boosted trees plus two baselines, four horizons.</a:t>
            </a:r>
            <a:endParaRPr lang="en-US" sz="1100" dirty="0"/>
          </a:p>
        </p:txBody>
      </p:sp>
      <p:sp>
        <p:nvSpPr>
          <p:cNvPr id="14" name="Text 11"/>
          <p:cNvSpPr/>
          <p:nvPr/>
        </p:nvSpPr>
        <p:spPr>
          <a:xfrm>
            <a:off x="9772376" y="4553712"/>
            <a:ext cx="1837944" cy="310896"/>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Serve</a:t>
            </a:r>
            <a:endParaRPr lang="en-US" sz="1300" dirty="0"/>
          </a:p>
        </p:txBody>
      </p:sp>
      <p:sp>
        <p:nvSpPr>
          <p:cNvPr id="15" name="Text 12"/>
          <p:cNvSpPr/>
          <p:nvPr/>
        </p:nvSpPr>
        <p:spPr>
          <a:xfrm>
            <a:off x="9772376" y="4882896"/>
            <a:ext cx="1837944" cy="960120"/>
          </a:xfrm>
          <a:prstGeom prst="rect">
            <a:avLst/>
          </a:prstGeom>
          <a:noFill/>
          <a:ln/>
        </p:spPr>
        <p:txBody>
          <a:bodyPr wrap="square" lIns="0" tIns="0" rIns="0" bIns="0" rtlCol="0" anchor="t"/>
          <a:lstStyle/>
          <a:p>
            <a:pPr marL="0" indent="0">
              <a:lnSpc>
                <a:spcPts val="1500"/>
              </a:lnSpc>
              <a:buNone/>
            </a:pPr>
            <a:r>
              <a:rPr lang="en-US" sz="1100" dirty="0">
                <a:solidFill>
                  <a:srgbClr val="5D6B7A"/>
                </a:solidFill>
                <a:latin typeface="Calibri" pitchFamily="34" charset="0"/>
                <a:ea typeface="Calibri" pitchFamily="34" charset="-122"/>
                <a:cs typeface="Calibri" pitchFamily="34" charset="-120"/>
              </a:rPr>
              <a:t>Score the latest week; a web app shows the board.</a:t>
            </a:r>
            <a:endParaRPr lang="en-US" sz="1100" dirty="0"/>
          </a:p>
        </p:txBody>
      </p:sp>
      <p:sp>
        <p:nvSpPr>
          <p:cNvPr id="16" name="Text 13"/>
          <p:cNvSpPr/>
          <p:nvPr/>
        </p:nvSpPr>
        <p:spPr>
          <a:xfrm>
            <a:off x="566928" y="6053328"/>
            <a:ext cx="11064240" cy="411480"/>
          </a:xfrm>
          <a:prstGeom prst="rect">
            <a:avLst/>
          </a:prstGeom>
          <a:noFill/>
          <a:ln/>
        </p:spPr>
        <p:txBody>
          <a:bodyPr wrap="square" lIns="0" tIns="0" rIns="0" bIns="0" rtlCol="0" anchor="ctr"/>
          <a:lstStyle/>
          <a:p>
            <a:pPr marL="0" indent="0">
              <a:buNone/>
            </a:pPr>
            <a:r>
              <a:rPr lang="en-US" sz="1200" i="1" dirty="0">
                <a:solidFill>
                  <a:srgbClr val="5D6B7A"/>
                </a:solidFill>
                <a:latin typeface="Calibri" pitchFamily="34" charset="0"/>
                <a:ea typeface="Calibri" pitchFamily="34" charset="-122"/>
                <a:cs typeface="Calibri" pitchFamily="34" charset="-120"/>
              </a:rPr>
              <a:t>Everything runs on a laptop with a local Spark session. The same code scales by adding executors to the aggregation step.</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MAKING IT A REAL FORECAST</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Three rules that stop the model cheating</a:t>
            </a:r>
            <a:endParaRPr lang="en-US" sz="3300" dirty="0"/>
          </a:p>
        </p:txBody>
      </p:sp>
      <p:sp>
        <p:nvSpPr>
          <p:cNvPr id="5" name="Shape 3"/>
          <p:cNvSpPr/>
          <p:nvPr/>
        </p:nvSpPr>
        <p:spPr>
          <a:xfrm>
            <a:off x="566928" y="1783080"/>
            <a:ext cx="3504895" cy="3931920"/>
          </a:xfrm>
          <a:prstGeom prst="roundRect">
            <a:avLst>
              <a:gd name="adj" fmla="val 287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6" name="Shape 4"/>
          <p:cNvSpPr/>
          <p:nvPr/>
        </p:nvSpPr>
        <p:spPr>
          <a:xfrm>
            <a:off x="859536" y="2057400"/>
            <a:ext cx="420624" cy="420624"/>
          </a:xfrm>
          <a:prstGeom prst="ellipse">
            <a:avLst/>
          </a:prstGeom>
          <a:solidFill>
            <a:srgbClr val="2A78D6"/>
          </a:solidFill>
          <a:ln w="12700">
            <a:solidFill>
              <a:srgbClr val="333333"/>
            </a:solidFill>
            <a:prstDash val="solid"/>
          </a:ln>
        </p:spPr>
        <p:txBody>
          <a:bodyPr/>
          <a:lstStyle/>
          <a:p>
            <a:endParaRPr lang="en-US"/>
          </a:p>
        </p:txBody>
      </p:sp>
      <p:sp>
        <p:nvSpPr>
          <p:cNvPr id="7" name="Text 5"/>
          <p:cNvSpPr/>
          <p:nvPr/>
        </p:nvSpPr>
        <p:spPr>
          <a:xfrm>
            <a:off x="859536" y="205740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859536" y="2615184"/>
            <a:ext cx="2916936" cy="713232"/>
          </a:xfrm>
          <a:prstGeom prst="rect">
            <a:avLst/>
          </a:prstGeom>
          <a:noFill/>
          <a:ln/>
        </p:spPr>
        <p:txBody>
          <a:bodyPr wrap="square" lIns="0" tIns="0" rIns="0" bIns="0" rtlCol="0" anchor="t"/>
          <a:lstStyle/>
          <a:p>
            <a:pPr marL="0" indent="0">
              <a:lnSpc>
                <a:spcPts val="2100"/>
              </a:lnSpc>
              <a:buNone/>
            </a:pPr>
            <a:r>
              <a:rPr lang="en-US" sz="1750" b="1" dirty="0">
                <a:solidFill>
                  <a:srgbClr val="0B2545"/>
                </a:solidFill>
                <a:latin typeface="Cambria" pitchFamily="34" charset="0"/>
                <a:ea typeface="Cambria" pitchFamily="34" charset="-122"/>
                <a:cs typeface="Cambria" pitchFamily="34" charset="-120"/>
              </a:rPr>
              <a:t>No peeking forward</a:t>
            </a:r>
            <a:endParaRPr lang="en-US" sz="1750" dirty="0"/>
          </a:p>
        </p:txBody>
      </p:sp>
      <p:sp>
        <p:nvSpPr>
          <p:cNvPr id="9" name="Text 7"/>
          <p:cNvSpPr/>
          <p:nvPr/>
        </p:nvSpPr>
        <p:spPr>
          <a:xfrm>
            <a:off x="859536" y="3401568"/>
            <a:ext cx="2916936" cy="1463040"/>
          </a:xfrm>
          <a:prstGeom prst="rect">
            <a:avLst/>
          </a:prstGeom>
          <a:noFill/>
          <a:ln/>
        </p:spPr>
        <p:txBody>
          <a:bodyPr wrap="square" lIns="0" tIns="0" rIns="0" bIns="0" rtlCol="0" anchor="t"/>
          <a:lstStyle/>
          <a:p>
            <a:pPr marL="0" indent="0">
              <a:lnSpc>
                <a:spcPts val="1900"/>
              </a:lnSpc>
              <a:buNone/>
            </a:pPr>
            <a:r>
              <a:rPr lang="en-US" sz="1300" dirty="0">
                <a:solidFill>
                  <a:srgbClr val="16202B"/>
                </a:solidFill>
                <a:latin typeface="Calibri" pitchFamily="34" charset="0"/>
                <a:ea typeface="Calibri" pitchFamily="34" charset="-122"/>
                <a:cs typeface="Calibri" pitchFamily="34" charset="-120"/>
              </a:rPr>
              <a:t>Every rolling average and lag looks strictly backwards. A row for this week contains nothing that was not knowable by the end of this week.</a:t>
            </a:r>
            <a:endParaRPr lang="en-US" sz="1300" dirty="0"/>
          </a:p>
        </p:txBody>
      </p:sp>
      <p:sp>
        <p:nvSpPr>
          <p:cNvPr id="10" name="Text 8"/>
          <p:cNvSpPr/>
          <p:nvPr/>
        </p:nvSpPr>
        <p:spPr>
          <a:xfrm>
            <a:off x="859536" y="4901184"/>
            <a:ext cx="2916936" cy="658368"/>
          </a:xfrm>
          <a:prstGeom prst="rect">
            <a:avLst/>
          </a:prstGeom>
          <a:noFill/>
          <a:ln/>
        </p:spPr>
        <p:txBody>
          <a:bodyPr wrap="square" lIns="0" tIns="0" rIns="0" bIns="0" rtlCol="0" anchor="t"/>
          <a:lstStyle/>
          <a:p>
            <a:pPr marL="0" indent="0">
              <a:lnSpc>
                <a:spcPts val="1600"/>
              </a:lnSpc>
              <a:buNone/>
            </a:pPr>
            <a:r>
              <a:rPr lang="en-US" sz="1150" i="1" dirty="0">
                <a:solidFill>
                  <a:srgbClr val="5D6B7A"/>
                </a:solidFill>
                <a:latin typeface="Calibri" pitchFamily="34" charset="0"/>
                <a:ea typeface="Calibri" pitchFamily="34" charset="-122"/>
                <a:cs typeface="Calibri" pitchFamily="34" charset="-120"/>
              </a:rPr>
              <a:t>Enforced in the window definition, not by memory.</a:t>
            </a:r>
            <a:endParaRPr lang="en-US" sz="1150" dirty="0"/>
          </a:p>
        </p:txBody>
      </p:sp>
      <p:sp>
        <p:nvSpPr>
          <p:cNvPr id="11" name="Shape 9"/>
          <p:cNvSpPr/>
          <p:nvPr/>
        </p:nvSpPr>
        <p:spPr>
          <a:xfrm>
            <a:off x="4346143" y="1783080"/>
            <a:ext cx="3504895" cy="3931920"/>
          </a:xfrm>
          <a:prstGeom prst="roundRect">
            <a:avLst>
              <a:gd name="adj" fmla="val 287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2" name="Shape 10"/>
          <p:cNvSpPr/>
          <p:nvPr/>
        </p:nvSpPr>
        <p:spPr>
          <a:xfrm>
            <a:off x="4638751" y="2057400"/>
            <a:ext cx="420624" cy="420624"/>
          </a:xfrm>
          <a:prstGeom prst="ellipse">
            <a:avLst/>
          </a:prstGeom>
          <a:solidFill>
            <a:srgbClr val="2A78D6"/>
          </a:solidFill>
          <a:ln w="12700">
            <a:solidFill>
              <a:srgbClr val="333333"/>
            </a:solidFill>
            <a:prstDash val="solid"/>
          </a:ln>
        </p:spPr>
        <p:txBody>
          <a:bodyPr/>
          <a:lstStyle/>
          <a:p>
            <a:endParaRPr lang="en-US"/>
          </a:p>
        </p:txBody>
      </p:sp>
      <p:sp>
        <p:nvSpPr>
          <p:cNvPr id="13" name="Text 11"/>
          <p:cNvSpPr/>
          <p:nvPr/>
        </p:nvSpPr>
        <p:spPr>
          <a:xfrm>
            <a:off x="4638751" y="205740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638751" y="2615184"/>
            <a:ext cx="2916936" cy="713232"/>
          </a:xfrm>
          <a:prstGeom prst="rect">
            <a:avLst/>
          </a:prstGeom>
          <a:noFill/>
          <a:ln/>
        </p:spPr>
        <p:txBody>
          <a:bodyPr wrap="square" lIns="0" tIns="0" rIns="0" bIns="0" rtlCol="0" anchor="t"/>
          <a:lstStyle/>
          <a:p>
            <a:pPr marL="0" indent="0">
              <a:lnSpc>
                <a:spcPts val="2100"/>
              </a:lnSpc>
              <a:buNone/>
            </a:pPr>
            <a:r>
              <a:rPr lang="en-US" sz="1750" b="1" dirty="0">
                <a:solidFill>
                  <a:srgbClr val="0B2545"/>
                </a:solidFill>
                <a:latin typeface="Cambria" pitchFamily="34" charset="0"/>
                <a:ea typeface="Cambria" pitchFamily="34" charset="-122"/>
                <a:cs typeface="Cambria" pitchFamily="34" charset="-120"/>
              </a:rPr>
              <a:t>Train on the past, test on the future</a:t>
            </a:r>
            <a:endParaRPr lang="en-US" sz="1750" dirty="0"/>
          </a:p>
        </p:txBody>
      </p:sp>
      <p:sp>
        <p:nvSpPr>
          <p:cNvPr id="15" name="Text 13"/>
          <p:cNvSpPr/>
          <p:nvPr/>
        </p:nvSpPr>
        <p:spPr>
          <a:xfrm>
            <a:off x="4638751" y="3401568"/>
            <a:ext cx="2916936" cy="1463040"/>
          </a:xfrm>
          <a:prstGeom prst="rect">
            <a:avLst/>
          </a:prstGeom>
          <a:noFill/>
          <a:ln/>
        </p:spPr>
        <p:txBody>
          <a:bodyPr wrap="square" lIns="0" tIns="0" rIns="0" bIns="0" rtlCol="0" anchor="t"/>
          <a:lstStyle/>
          <a:p>
            <a:pPr marL="0" indent="0">
              <a:lnSpc>
                <a:spcPts val="1900"/>
              </a:lnSpc>
              <a:buNone/>
            </a:pPr>
            <a:r>
              <a:rPr lang="en-US" sz="1300" dirty="0">
                <a:solidFill>
                  <a:srgbClr val="16202B"/>
                </a:solidFill>
                <a:latin typeface="Calibri" pitchFamily="34" charset="0"/>
                <a:ea typeface="Calibri" pitchFamily="34" charset="-122"/>
                <a:cs typeface="Calibri" pitchFamily="34" charset="-120"/>
              </a:rPr>
              <a:t>The first 75% of weeks train; the rest are the test. A gap sits between them so no training label reaches across the boundary.</a:t>
            </a:r>
            <a:endParaRPr lang="en-US" sz="1300" dirty="0"/>
          </a:p>
        </p:txBody>
      </p:sp>
      <p:sp>
        <p:nvSpPr>
          <p:cNvPr id="16" name="Text 14"/>
          <p:cNvSpPr/>
          <p:nvPr/>
        </p:nvSpPr>
        <p:spPr>
          <a:xfrm>
            <a:off x="4638751" y="4901184"/>
            <a:ext cx="2916936" cy="658368"/>
          </a:xfrm>
          <a:prstGeom prst="rect">
            <a:avLst/>
          </a:prstGeom>
          <a:noFill/>
          <a:ln/>
        </p:spPr>
        <p:txBody>
          <a:bodyPr wrap="square" lIns="0" tIns="0" rIns="0" bIns="0" rtlCol="0" anchor="t"/>
          <a:lstStyle/>
          <a:p>
            <a:pPr marL="0" indent="0">
              <a:lnSpc>
                <a:spcPts val="1600"/>
              </a:lnSpc>
              <a:buNone/>
            </a:pPr>
            <a:r>
              <a:rPr lang="en-US" sz="1150" i="1" dirty="0">
                <a:solidFill>
                  <a:srgbClr val="5D6B7A"/>
                </a:solidFill>
                <a:latin typeface="Calibri" pitchFamily="34" charset="0"/>
                <a:ea typeface="Calibri" pitchFamily="34" charset="-122"/>
                <a:cs typeface="Calibri" pitchFamily="34" charset="-120"/>
              </a:rPr>
              <a:t>A random split would let the model interpolate instead of forecast.</a:t>
            </a:r>
            <a:endParaRPr lang="en-US" sz="1150" dirty="0"/>
          </a:p>
        </p:txBody>
      </p:sp>
      <p:sp>
        <p:nvSpPr>
          <p:cNvPr id="17" name="Shape 15"/>
          <p:cNvSpPr/>
          <p:nvPr/>
        </p:nvSpPr>
        <p:spPr>
          <a:xfrm>
            <a:off x="8125358" y="1783080"/>
            <a:ext cx="3504895" cy="3931920"/>
          </a:xfrm>
          <a:prstGeom prst="roundRect">
            <a:avLst>
              <a:gd name="adj" fmla="val 287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8" name="Shape 16"/>
          <p:cNvSpPr/>
          <p:nvPr/>
        </p:nvSpPr>
        <p:spPr>
          <a:xfrm>
            <a:off x="8417966" y="2057400"/>
            <a:ext cx="420624" cy="420624"/>
          </a:xfrm>
          <a:prstGeom prst="ellipse">
            <a:avLst/>
          </a:prstGeom>
          <a:solidFill>
            <a:srgbClr val="2A78D6"/>
          </a:solidFill>
          <a:ln w="12700">
            <a:solidFill>
              <a:srgbClr val="333333"/>
            </a:solidFill>
            <a:prstDash val="solid"/>
          </a:ln>
        </p:spPr>
        <p:txBody>
          <a:bodyPr/>
          <a:lstStyle/>
          <a:p>
            <a:endParaRPr lang="en-US"/>
          </a:p>
        </p:txBody>
      </p:sp>
      <p:sp>
        <p:nvSpPr>
          <p:cNvPr id="19" name="Text 17"/>
          <p:cNvSpPr/>
          <p:nvPr/>
        </p:nvSpPr>
        <p:spPr>
          <a:xfrm>
            <a:off x="8417966" y="205740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417966" y="2615184"/>
            <a:ext cx="2916936" cy="713232"/>
          </a:xfrm>
          <a:prstGeom prst="rect">
            <a:avLst/>
          </a:prstGeom>
          <a:noFill/>
          <a:ln/>
        </p:spPr>
        <p:txBody>
          <a:bodyPr wrap="square" lIns="0" tIns="0" rIns="0" bIns="0" rtlCol="0" anchor="t"/>
          <a:lstStyle/>
          <a:p>
            <a:pPr marL="0" indent="0">
              <a:lnSpc>
                <a:spcPts val="2100"/>
              </a:lnSpc>
              <a:buNone/>
            </a:pPr>
            <a:r>
              <a:rPr lang="en-US" sz="1750" b="1" dirty="0">
                <a:solidFill>
                  <a:srgbClr val="0B2545"/>
                </a:solidFill>
                <a:latin typeface="Cambria" pitchFamily="34" charset="0"/>
                <a:ea typeface="Cambria" pitchFamily="34" charset="-122"/>
                <a:cs typeface="Cambria" pitchFamily="34" charset="-120"/>
              </a:rPr>
              <a:t>Never report accuracy</a:t>
            </a:r>
            <a:endParaRPr lang="en-US" sz="1750" dirty="0"/>
          </a:p>
        </p:txBody>
      </p:sp>
      <p:sp>
        <p:nvSpPr>
          <p:cNvPr id="21" name="Text 19"/>
          <p:cNvSpPr/>
          <p:nvPr/>
        </p:nvSpPr>
        <p:spPr>
          <a:xfrm>
            <a:off x="8417966" y="3401568"/>
            <a:ext cx="2916936" cy="1463040"/>
          </a:xfrm>
          <a:prstGeom prst="rect">
            <a:avLst/>
          </a:prstGeom>
          <a:noFill/>
          <a:ln/>
        </p:spPr>
        <p:txBody>
          <a:bodyPr wrap="square" lIns="0" tIns="0" rIns="0" bIns="0" rtlCol="0" anchor="t"/>
          <a:lstStyle/>
          <a:p>
            <a:pPr marL="0" indent="0">
              <a:lnSpc>
                <a:spcPts val="1900"/>
              </a:lnSpc>
              <a:buNone/>
            </a:pPr>
            <a:r>
              <a:rPr lang="en-US" sz="1300" dirty="0">
                <a:solidFill>
                  <a:srgbClr val="16202B"/>
                </a:solidFill>
                <a:latin typeface="Calibri" pitchFamily="34" charset="0"/>
                <a:ea typeface="Calibri" pitchFamily="34" charset="-122"/>
                <a:cs typeface="Calibri" pitchFamily="34" charset="-120"/>
              </a:rPr>
              <a:t>Only 9% of country-weeks are spikes, so predicting "nothing will happen" every time is 91% accurate and completely useless.</a:t>
            </a:r>
            <a:endParaRPr lang="en-US" sz="1300" dirty="0"/>
          </a:p>
        </p:txBody>
      </p:sp>
      <p:sp>
        <p:nvSpPr>
          <p:cNvPr id="22" name="Text 20"/>
          <p:cNvSpPr/>
          <p:nvPr/>
        </p:nvSpPr>
        <p:spPr>
          <a:xfrm>
            <a:off x="8417966" y="4901184"/>
            <a:ext cx="2916936" cy="658368"/>
          </a:xfrm>
          <a:prstGeom prst="rect">
            <a:avLst/>
          </a:prstGeom>
          <a:noFill/>
          <a:ln/>
        </p:spPr>
        <p:txBody>
          <a:bodyPr wrap="square" lIns="0" tIns="0" rIns="0" bIns="0" rtlCol="0" anchor="t"/>
          <a:lstStyle/>
          <a:p>
            <a:pPr marL="0" indent="0">
              <a:lnSpc>
                <a:spcPts val="1600"/>
              </a:lnSpc>
              <a:buNone/>
            </a:pPr>
            <a:r>
              <a:rPr lang="en-US" sz="1150" i="1" dirty="0">
                <a:solidFill>
                  <a:srgbClr val="5D6B7A"/>
                </a:solidFill>
                <a:latin typeface="Calibri" pitchFamily="34" charset="0"/>
                <a:ea typeface="Calibri" pitchFamily="34" charset="-122"/>
                <a:cs typeface="Calibri" pitchFamily="34" charset="-120"/>
              </a:rPr>
              <a:t>The base rate is the number every result gets compared against.</a:t>
            </a:r>
            <a:endParaRPr lang="en-US" sz="1150" dirty="0"/>
          </a:p>
        </p:txBody>
      </p:sp>
      <p:sp>
        <p:nvSpPr>
          <p:cNvPr id="23" name="Text 21"/>
          <p:cNvSpPr/>
          <p:nvPr/>
        </p:nvSpPr>
        <p:spPr>
          <a:xfrm>
            <a:off x="566928" y="5943600"/>
            <a:ext cx="11064240" cy="457200"/>
          </a:xfrm>
          <a:prstGeom prst="rect">
            <a:avLst/>
          </a:prstGeom>
          <a:noFill/>
          <a:ln/>
        </p:spPr>
        <p:txBody>
          <a:bodyPr wrap="square" lIns="0" tIns="0" rIns="0" bIns="0" rtlCol="0" anchor="ctr"/>
          <a:lstStyle/>
          <a:p>
            <a:pPr marL="0" indent="0">
              <a:buNone/>
            </a:pPr>
            <a:r>
              <a:rPr lang="en-US" sz="1300" dirty="0">
                <a:solidFill>
                  <a:srgbClr val="5D6B7A"/>
                </a:solidFill>
                <a:latin typeface="Calibri" pitchFamily="34" charset="0"/>
                <a:ea typeface="Calibri" pitchFamily="34" charset="-122"/>
                <a:cs typeface="Calibri" pitchFamily="34" charset="-120"/>
              </a:rPr>
              <a:t>These are the choices that decide whether the numbers on the next slides mean anything at all.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THE MODELS</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One candidate, two baselines chosen to be hard</a:t>
            </a:r>
            <a:endParaRPr lang="en-US" sz="3300" dirty="0"/>
          </a:p>
        </p:txBody>
      </p:sp>
      <p:sp>
        <p:nvSpPr>
          <p:cNvPr id="5" name="Shape 3"/>
          <p:cNvSpPr/>
          <p:nvPr/>
        </p:nvSpPr>
        <p:spPr>
          <a:xfrm>
            <a:off x="566928" y="1783080"/>
            <a:ext cx="11064240" cy="1152144"/>
          </a:xfrm>
          <a:prstGeom prst="roundRect">
            <a:avLst>
              <a:gd name="adj" fmla="val 873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6" name="Shape 4"/>
          <p:cNvSpPr/>
          <p:nvPr/>
        </p:nvSpPr>
        <p:spPr>
          <a:xfrm>
            <a:off x="868680" y="2212848"/>
            <a:ext cx="292608" cy="292608"/>
          </a:xfrm>
          <a:prstGeom prst="ellipse">
            <a:avLst/>
          </a:prstGeom>
          <a:solidFill>
            <a:srgbClr val="EB6834"/>
          </a:solidFill>
          <a:ln w="12700">
            <a:solidFill>
              <a:srgbClr val="333333"/>
            </a:solidFill>
            <a:prstDash val="solid"/>
          </a:ln>
        </p:spPr>
        <p:txBody>
          <a:bodyPr/>
          <a:lstStyle/>
          <a:p>
            <a:endParaRPr lang="en-US"/>
          </a:p>
        </p:txBody>
      </p:sp>
      <p:sp>
        <p:nvSpPr>
          <p:cNvPr id="7" name="Text 5"/>
          <p:cNvSpPr/>
          <p:nvPr/>
        </p:nvSpPr>
        <p:spPr>
          <a:xfrm>
            <a:off x="1325880" y="1929384"/>
            <a:ext cx="3703320" cy="868680"/>
          </a:xfrm>
          <a:prstGeom prst="rect">
            <a:avLst/>
          </a:prstGeom>
          <a:noFill/>
          <a:ln/>
        </p:spPr>
        <p:txBody>
          <a:bodyPr wrap="square" lIns="0" tIns="0" rIns="0" bIns="0" rtlCol="0" anchor="ctr"/>
          <a:lstStyle/>
          <a:p>
            <a:pPr marL="0" indent="0">
              <a:lnSpc>
                <a:spcPts val="2000"/>
              </a:lnSpc>
              <a:buNone/>
            </a:pPr>
            <a:r>
              <a:rPr lang="en-US" sz="1650" b="1" dirty="0">
                <a:solidFill>
                  <a:srgbClr val="0B2545"/>
                </a:solidFill>
                <a:latin typeface="Cambria" pitchFamily="34" charset="0"/>
                <a:ea typeface="Cambria" pitchFamily="34" charset="-122"/>
                <a:cs typeface="Cambria" pitchFamily="34" charset="-120"/>
              </a:rPr>
              <a:t>Gradient-Boosted Trees</a:t>
            </a:r>
            <a:endParaRPr lang="en-US" sz="1650" dirty="0"/>
          </a:p>
        </p:txBody>
      </p:sp>
      <p:sp>
        <p:nvSpPr>
          <p:cNvPr id="8" name="Text 6"/>
          <p:cNvSpPr/>
          <p:nvPr/>
        </p:nvSpPr>
        <p:spPr>
          <a:xfrm>
            <a:off x="5120640" y="1892808"/>
            <a:ext cx="4434840" cy="932688"/>
          </a:xfrm>
          <a:prstGeom prst="rect">
            <a:avLst/>
          </a:prstGeom>
          <a:noFill/>
          <a:ln/>
        </p:spPr>
        <p:txBody>
          <a:bodyPr wrap="square" lIns="0" tIns="0" rIns="0" bIns="0" rtlCol="0" anchor="ctr"/>
          <a:lstStyle/>
          <a:p>
            <a:pPr marL="0" indent="0">
              <a:lnSpc>
                <a:spcPts val="1600"/>
              </a:lnSpc>
              <a:buNone/>
            </a:pPr>
            <a:r>
              <a:rPr lang="en-US" sz="1200" dirty="0">
                <a:solidFill>
                  <a:srgbClr val="16202B"/>
                </a:solidFill>
                <a:latin typeface="Calibri" pitchFamily="34" charset="0"/>
                <a:ea typeface="Calibri" pitchFamily="34" charset="-122"/>
                <a:cs typeface="Calibri" pitchFamily="34" charset="-120"/>
              </a:rPr>
              <a:t>The candidate. Hundreds of small decision trees, each correcting the last. Good at messy tabular data on wildly different scales, and it reports which features it used.</a:t>
            </a:r>
            <a:endParaRPr lang="en-US" sz="1200" dirty="0"/>
          </a:p>
        </p:txBody>
      </p:sp>
      <p:sp>
        <p:nvSpPr>
          <p:cNvPr id="9" name="Text 7"/>
          <p:cNvSpPr/>
          <p:nvPr/>
        </p:nvSpPr>
        <p:spPr>
          <a:xfrm>
            <a:off x="9692640" y="1892808"/>
            <a:ext cx="1691640" cy="932688"/>
          </a:xfrm>
          <a:prstGeom prst="rect">
            <a:avLst/>
          </a:prstGeom>
          <a:noFill/>
          <a:ln/>
        </p:spPr>
        <p:txBody>
          <a:bodyPr wrap="square" lIns="0" tIns="0" rIns="0" bIns="0" rtlCol="0" anchor="ctr"/>
          <a:lstStyle/>
          <a:p>
            <a:pPr marL="0" indent="0" algn="r">
              <a:lnSpc>
                <a:spcPts val="1400"/>
              </a:lnSpc>
              <a:buNone/>
            </a:pPr>
            <a:r>
              <a:rPr lang="en-US" sz="1050" dirty="0">
                <a:solidFill>
                  <a:srgbClr val="5D6B7A"/>
                </a:solidFill>
                <a:latin typeface="Calibri" pitchFamily="34" charset="0"/>
                <a:ea typeface="Calibri" pitchFamily="34" charset="-122"/>
                <a:cs typeface="Calibri" pitchFamily="34" charset="-120"/>
              </a:rPr>
              <a:t>80 trees · depth 4 · Spark MLlib</a:t>
            </a:r>
            <a:endParaRPr lang="en-US" sz="1050" dirty="0"/>
          </a:p>
        </p:txBody>
      </p:sp>
      <p:sp>
        <p:nvSpPr>
          <p:cNvPr id="10" name="Shape 8"/>
          <p:cNvSpPr/>
          <p:nvPr/>
        </p:nvSpPr>
        <p:spPr>
          <a:xfrm>
            <a:off x="566928" y="3209544"/>
            <a:ext cx="11064240" cy="1152144"/>
          </a:xfrm>
          <a:prstGeom prst="roundRect">
            <a:avLst>
              <a:gd name="adj" fmla="val 8730"/>
            </a:avLst>
          </a:prstGeom>
          <a:solidFill>
            <a:srgbClr val="FFFFFF"/>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1" name="Shape 9"/>
          <p:cNvSpPr/>
          <p:nvPr/>
        </p:nvSpPr>
        <p:spPr>
          <a:xfrm>
            <a:off x="566928" y="3209544"/>
            <a:ext cx="11064240" cy="1152144"/>
          </a:xfrm>
          <a:prstGeom prst="roundRect">
            <a:avLst>
              <a:gd name="adj" fmla="val 8730"/>
            </a:avLst>
          </a:prstGeom>
          <a:solidFill>
            <a:srgbClr val="FFFFFF"/>
          </a:solidFill>
          <a:ln w="12700">
            <a:solidFill>
              <a:srgbClr val="DCE5F0"/>
            </a:solidFill>
            <a:prstDash val="solid"/>
          </a:ln>
        </p:spPr>
        <p:txBody>
          <a:bodyPr/>
          <a:lstStyle/>
          <a:p>
            <a:endParaRPr lang="en-US"/>
          </a:p>
        </p:txBody>
      </p:sp>
      <p:sp>
        <p:nvSpPr>
          <p:cNvPr id="12" name="Shape 10"/>
          <p:cNvSpPr/>
          <p:nvPr/>
        </p:nvSpPr>
        <p:spPr>
          <a:xfrm>
            <a:off x="868680" y="3639312"/>
            <a:ext cx="292608" cy="292608"/>
          </a:xfrm>
          <a:prstGeom prst="ellipse">
            <a:avLst/>
          </a:prstGeom>
          <a:solidFill>
            <a:srgbClr val="2A78D6"/>
          </a:solidFill>
          <a:ln w="12700">
            <a:solidFill>
              <a:srgbClr val="333333"/>
            </a:solidFill>
            <a:prstDash val="solid"/>
          </a:ln>
        </p:spPr>
        <p:txBody>
          <a:bodyPr/>
          <a:lstStyle/>
          <a:p>
            <a:endParaRPr lang="en-US"/>
          </a:p>
        </p:txBody>
      </p:sp>
      <p:sp>
        <p:nvSpPr>
          <p:cNvPr id="13" name="Text 11"/>
          <p:cNvSpPr/>
          <p:nvPr/>
        </p:nvSpPr>
        <p:spPr>
          <a:xfrm>
            <a:off x="1325880" y="3355848"/>
            <a:ext cx="3703320" cy="868680"/>
          </a:xfrm>
          <a:prstGeom prst="rect">
            <a:avLst/>
          </a:prstGeom>
          <a:noFill/>
          <a:ln/>
        </p:spPr>
        <p:txBody>
          <a:bodyPr wrap="square" lIns="0" tIns="0" rIns="0" bIns="0" rtlCol="0" anchor="ctr"/>
          <a:lstStyle/>
          <a:p>
            <a:pPr marL="0" indent="0">
              <a:lnSpc>
                <a:spcPts val="2000"/>
              </a:lnSpc>
              <a:buNone/>
            </a:pPr>
            <a:r>
              <a:rPr lang="en-US" sz="1650" b="1" dirty="0">
                <a:solidFill>
                  <a:srgbClr val="0B2545"/>
                </a:solidFill>
                <a:latin typeface="Cambria" pitchFamily="34" charset="0"/>
                <a:ea typeface="Cambria" pitchFamily="34" charset="-122"/>
                <a:cs typeface="Cambria" pitchFamily="34" charset="-120"/>
              </a:rPr>
              <a:t>Logistic regression</a:t>
            </a:r>
            <a:endParaRPr lang="en-US" sz="1650" dirty="0"/>
          </a:p>
        </p:txBody>
      </p:sp>
      <p:sp>
        <p:nvSpPr>
          <p:cNvPr id="14" name="Text 12"/>
          <p:cNvSpPr/>
          <p:nvPr/>
        </p:nvSpPr>
        <p:spPr>
          <a:xfrm>
            <a:off x="5120640" y="3319272"/>
            <a:ext cx="4434840" cy="932688"/>
          </a:xfrm>
          <a:prstGeom prst="rect">
            <a:avLst/>
          </a:prstGeom>
          <a:noFill/>
          <a:ln/>
        </p:spPr>
        <p:txBody>
          <a:bodyPr wrap="square" lIns="0" tIns="0" rIns="0" bIns="0" rtlCol="0" anchor="ctr"/>
          <a:lstStyle/>
          <a:p>
            <a:pPr marL="0" indent="0">
              <a:lnSpc>
                <a:spcPts val="1600"/>
              </a:lnSpc>
              <a:buNone/>
            </a:pPr>
            <a:r>
              <a:rPr lang="en-US" sz="1200" dirty="0">
                <a:solidFill>
                  <a:srgbClr val="16202B"/>
                </a:solidFill>
                <a:latin typeface="Calibri" pitchFamily="34" charset="0"/>
                <a:ea typeface="Calibri" pitchFamily="34" charset="-122"/>
                <a:cs typeface="Calibri" pitchFamily="34" charset="-120"/>
              </a:rPr>
              <a:t>Tests whether the complexity is earning its keep. If a straight-line model matches the ensemble, the ensemble is not adding much.</a:t>
            </a:r>
            <a:endParaRPr lang="en-US" sz="1200" dirty="0"/>
          </a:p>
        </p:txBody>
      </p:sp>
      <p:sp>
        <p:nvSpPr>
          <p:cNvPr id="15" name="Text 13"/>
          <p:cNvSpPr/>
          <p:nvPr/>
        </p:nvSpPr>
        <p:spPr>
          <a:xfrm>
            <a:off x="9692640" y="3319272"/>
            <a:ext cx="1691640" cy="932688"/>
          </a:xfrm>
          <a:prstGeom prst="rect">
            <a:avLst/>
          </a:prstGeom>
          <a:noFill/>
          <a:ln/>
        </p:spPr>
        <p:txBody>
          <a:bodyPr wrap="square" lIns="0" tIns="0" rIns="0" bIns="0" rtlCol="0" anchor="ctr"/>
          <a:lstStyle/>
          <a:p>
            <a:pPr marL="0" indent="0" algn="r">
              <a:lnSpc>
                <a:spcPts val="1400"/>
              </a:lnSpc>
              <a:buNone/>
            </a:pPr>
            <a:r>
              <a:rPr lang="en-US" sz="1050" dirty="0">
                <a:solidFill>
                  <a:srgbClr val="5D6B7A"/>
                </a:solidFill>
                <a:latin typeface="Calibri" pitchFamily="34" charset="0"/>
                <a:ea typeface="Calibri" pitchFamily="34" charset="-122"/>
                <a:cs typeface="Calibri" pitchFamily="34" charset="-120"/>
              </a:rPr>
              <a:t>standardised features · L2</a:t>
            </a:r>
            <a:endParaRPr lang="en-US" sz="1050" dirty="0"/>
          </a:p>
        </p:txBody>
      </p:sp>
      <p:sp>
        <p:nvSpPr>
          <p:cNvPr id="16" name="Shape 14"/>
          <p:cNvSpPr/>
          <p:nvPr/>
        </p:nvSpPr>
        <p:spPr>
          <a:xfrm>
            <a:off x="566928" y="4636008"/>
            <a:ext cx="11064240" cy="1152144"/>
          </a:xfrm>
          <a:prstGeom prst="roundRect">
            <a:avLst>
              <a:gd name="adj" fmla="val 8730"/>
            </a:avLst>
          </a:prstGeom>
          <a:solidFill>
            <a:srgbClr val="FFFFFF"/>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7" name="Shape 15"/>
          <p:cNvSpPr/>
          <p:nvPr/>
        </p:nvSpPr>
        <p:spPr>
          <a:xfrm>
            <a:off x="566928" y="4636008"/>
            <a:ext cx="11064240" cy="1152144"/>
          </a:xfrm>
          <a:prstGeom prst="roundRect">
            <a:avLst>
              <a:gd name="adj" fmla="val 8730"/>
            </a:avLst>
          </a:prstGeom>
          <a:solidFill>
            <a:srgbClr val="FFFFFF"/>
          </a:solidFill>
          <a:ln w="12700">
            <a:solidFill>
              <a:srgbClr val="DCE5F0"/>
            </a:solidFill>
            <a:prstDash val="solid"/>
          </a:ln>
        </p:spPr>
        <p:txBody>
          <a:bodyPr/>
          <a:lstStyle/>
          <a:p>
            <a:endParaRPr lang="en-US"/>
          </a:p>
        </p:txBody>
      </p:sp>
      <p:sp>
        <p:nvSpPr>
          <p:cNvPr id="18" name="Shape 16"/>
          <p:cNvSpPr/>
          <p:nvPr/>
        </p:nvSpPr>
        <p:spPr>
          <a:xfrm>
            <a:off x="868680" y="5065776"/>
            <a:ext cx="292608" cy="292608"/>
          </a:xfrm>
          <a:prstGeom prst="ellipse">
            <a:avLst/>
          </a:prstGeom>
          <a:solidFill>
            <a:srgbClr val="13375E"/>
          </a:solidFill>
          <a:ln w="12700">
            <a:solidFill>
              <a:srgbClr val="333333"/>
            </a:solidFill>
            <a:prstDash val="solid"/>
          </a:ln>
        </p:spPr>
        <p:txBody>
          <a:bodyPr/>
          <a:lstStyle/>
          <a:p>
            <a:endParaRPr lang="en-US"/>
          </a:p>
        </p:txBody>
      </p:sp>
      <p:sp>
        <p:nvSpPr>
          <p:cNvPr id="19" name="Text 17"/>
          <p:cNvSpPr/>
          <p:nvPr/>
        </p:nvSpPr>
        <p:spPr>
          <a:xfrm>
            <a:off x="1325880" y="4782312"/>
            <a:ext cx="3703320" cy="868680"/>
          </a:xfrm>
          <a:prstGeom prst="rect">
            <a:avLst/>
          </a:prstGeom>
          <a:noFill/>
          <a:ln/>
        </p:spPr>
        <p:txBody>
          <a:bodyPr wrap="square" lIns="0" tIns="0" rIns="0" bIns="0" rtlCol="0" anchor="ctr"/>
          <a:lstStyle/>
          <a:p>
            <a:pPr marL="0" indent="0">
              <a:lnSpc>
                <a:spcPts val="2000"/>
              </a:lnSpc>
              <a:buNone/>
            </a:pPr>
            <a:r>
              <a:rPr lang="en-US" sz="1650" b="1" dirty="0">
                <a:solidFill>
                  <a:srgbClr val="0B2545"/>
                </a:solidFill>
                <a:latin typeface="Cambria" pitchFamily="34" charset="0"/>
                <a:ea typeface="Cambria" pitchFamily="34" charset="-122"/>
                <a:cs typeface="Cambria" pitchFamily="34" charset="-120"/>
              </a:rPr>
              <a:t>"Assume next week looks like this week"</a:t>
            </a:r>
            <a:endParaRPr lang="en-US" sz="1650" dirty="0"/>
          </a:p>
        </p:txBody>
      </p:sp>
      <p:sp>
        <p:nvSpPr>
          <p:cNvPr id="20" name="Text 18"/>
          <p:cNvSpPr/>
          <p:nvPr/>
        </p:nvSpPr>
        <p:spPr>
          <a:xfrm>
            <a:off x="5120640" y="4745736"/>
            <a:ext cx="4434840" cy="932688"/>
          </a:xfrm>
          <a:prstGeom prst="rect">
            <a:avLst/>
          </a:prstGeom>
          <a:noFill/>
          <a:ln/>
        </p:spPr>
        <p:txBody>
          <a:bodyPr wrap="square" lIns="0" tIns="0" rIns="0" bIns="0" rtlCol="0" anchor="ctr"/>
          <a:lstStyle/>
          <a:p>
            <a:pPr marL="0" indent="0">
              <a:lnSpc>
                <a:spcPts val="1600"/>
              </a:lnSpc>
              <a:buNone/>
            </a:pPr>
            <a:r>
              <a:rPr lang="en-US" sz="1200" dirty="0">
                <a:solidFill>
                  <a:srgbClr val="16202B"/>
                </a:solidFill>
                <a:latin typeface="Calibri" pitchFamily="34" charset="0"/>
                <a:ea typeface="Calibri" pitchFamily="34" charset="-122"/>
                <a:cs typeface="Calibri" pitchFamily="34" charset="-120"/>
              </a:rPr>
              <a:t>The rule of thumb, with no parameters and no training. Conflict is bursty, so this is genuinely hard to beat, and beating it is the minimum evidence of foresight.</a:t>
            </a:r>
            <a:endParaRPr lang="en-US" sz="1200" dirty="0"/>
          </a:p>
        </p:txBody>
      </p:sp>
      <p:sp>
        <p:nvSpPr>
          <p:cNvPr id="21" name="Text 19"/>
          <p:cNvSpPr/>
          <p:nvPr/>
        </p:nvSpPr>
        <p:spPr>
          <a:xfrm>
            <a:off x="9692640" y="4745736"/>
            <a:ext cx="1691640" cy="932688"/>
          </a:xfrm>
          <a:prstGeom prst="rect">
            <a:avLst/>
          </a:prstGeom>
          <a:noFill/>
          <a:ln/>
        </p:spPr>
        <p:txBody>
          <a:bodyPr wrap="square" lIns="0" tIns="0" rIns="0" bIns="0" rtlCol="0" anchor="ctr"/>
          <a:lstStyle/>
          <a:p>
            <a:pPr marL="0" indent="0" algn="r">
              <a:lnSpc>
                <a:spcPts val="1400"/>
              </a:lnSpc>
              <a:buNone/>
            </a:pPr>
            <a:r>
              <a:rPr lang="en-US" sz="1050" dirty="0">
                <a:solidFill>
                  <a:srgbClr val="5D6B7A"/>
                </a:solidFill>
                <a:latin typeface="Calibri" pitchFamily="34" charset="0"/>
                <a:ea typeface="Calibri" pitchFamily="34" charset="-122"/>
                <a:cs typeface="Calibri" pitchFamily="34" charset="-120"/>
              </a:rPr>
              <a:t>the real floor</a:t>
            </a:r>
            <a:endParaRPr lang="en-US" sz="1050" dirty="0"/>
          </a:p>
        </p:txBody>
      </p:sp>
      <p:sp>
        <p:nvSpPr>
          <p:cNvPr id="22" name="Text 20"/>
          <p:cNvSpPr/>
          <p:nvPr/>
        </p:nvSpPr>
        <p:spPr>
          <a:xfrm>
            <a:off x="566928" y="6053328"/>
            <a:ext cx="11064240" cy="411480"/>
          </a:xfrm>
          <a:prstGeom prst="rect">
            <a:avLst/>
          </a:prstGeom>
          <a:noFill/>
          <a:ln/>
        </p:spPr>
        <p:txBody>
          <a:bodyPr wrap="square" lIns="0" tIns="0" rIns="0" bIns="0" rtlCol="0" anchor="ctr"/>
          <a:lstStyle/>
          <a:p>
            <a:pPr marL="0" indent="0">
              <a:buNone/>
            </a:pPr>
            <a:r>
              <a:rPr lang="en-US" sz="1200" i="1" dirty="0">
                <a:solidFill>
                  <a:srgbClr val="5D6B7A"/>
                </a:solidFill>
                <a:latin typeface="Calibri" pitchFamily="34" charset="0"/>
                <a:ea typeface="Calibri" pitchFamily="34" charset="-122"/>
                <a:cs typeface="Calibri" pitchFamily="34" charset="-120"/>
              </a:rPr>
              <a:t>All three are scored on exactly the same held-out weeks.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0149840" y="-1417320"/>
            <a:ext cx="3657600" cy="3657600"/>
          </a:xfrm>
          <a:prstGeom prst="ellipse">
            <a:avLst/>
          </a:prstGeom>
          <a:solidFill>
            <a:srgbClr val="13375E"/>
          </a:solidFill>
          <a:ln w="12700">
            <a:solidFill>
              <a:srgbClr val="333333"/>
            </a:solidFill>
            <a:prstDash val="solid"/>
          </a:ln>
        </p:spPr>
        <p:txBody>
          <a:bodyPr/>
          <a:lstStyle/>
          <a:p>
            <a:endParaRPr lang="en-US"/>
          </a:p>
        </p:txBody>
      </p:sp>
      <p:sp>
        <p:nvSpPr>
          <p:cNvPr id="3" name="Shape 1"/>
          <p:cNvSpPr/>
          <p:nvPr/>
        </p:nvSpPr>
        <p:spPr>
          <a:xfrm>
            <a:off x="777240" y="1161288"/>
            <a:ext cx="173736" cy="173736"/>
          </a:xfrm>
          <a:prstGeom prst="ellipse">
            <a:avLst/>
          </a:prstGeom>
          <a:solidFill>
            <a:srgbClr val="EB6834"/>
          </a:solidFill>
          <a:ln w="12700">
            <a:solidFill>
              <a:srgbClr val="333333"/>
            </a:solidFill>
            <a:prstDash val="solid"/>
          </a:ln>
        </p:spPr>
        <p:txBody>
          <a:bodyPr/>
          <a:lstStyle/>
          <a:p>
            <a:endParaRPr lang="en-US"/>
          </a:p>
        </p:txBody>
      </p:sp>
      <p:sp>
        <p:nvSpPr>
          <p:cNvPr id="4" name="Text 2"/>
          <p:cNvSpPr/>
          <p:nvPr/>
        </p:nvSpPr>
        <p:spPr>
          <a:xfrm>
            <a:off x="1078992" y="1051560"/>
            <a:ext cx="7315200" cy="365760"/>
          </a:xfrm>
          <a:prstGeom prst="rect">
            <a:avLst/>
          </a:prstGeom>
          <a:noFill/>
          <a:ln/>
        </p:spPr>
        <p:txBody>
          <a:bodyPr wrap="square" lIns="0" tIns="0" rIns="0" bIns="0" rtlCol="0" anchor="ctr"/>
          <a:lstStyle/>
          <a:p>
            <a:pPr marL="0" indent="0">
              <a:buNone/>
            </a:pPr>
            <a:r>
              <a:rPr lang="en-US" sz="1250" b="1" kern="0" spc="250" dirty="0">
                <a:solidFill>
                  <a:srgbClr val="CADCFC"/>
                </a:solidFill>
                <a:latin typeface="Calibri" pitchFamily="34" charset="0"/>
                <a:ea typeface="Calibri" pitchFamily="34" charset="-122"/>
                <a:cs typeface="Calibri" pitchFamily="34" charset="-120"/>
              </a:rPr>
              <a:t>HOW TO KEEP SCORE</a:t>
            </a:r>
            <a:endParaRPr lang="en-US" sz="1250" dirty="0"/>
          </a:p>
        </p:txBody>
      </p:sp>
      <p:sp>
        <p:nvSpPr>
          <p:cNvPr id="5" name="Text 3"/>
          <p:cNvSpPr/>
          <p:nvPr/>
        </p:nvSpPr>
        <p:spPr>
          <a:xfrm>
            <a:off x="777240" y="1554480"/>
            <a:ext cx="758952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Only 9 weeks in 100 are spikes.</a:t>
            </a:r>
            <a:endParaRPr lang="en-US" sz="3400" dirty="0"/>
          </a:p>
        </p:txBody>
      </p:sp>
      <p:sp>
        <p:nvSpPr>
          <p:cNvPr id="6" name="Text 4"/>
          <p:cNvSpPr/>
          <p:nvPr/>
        </p:nvSpPr>
        <p:spPr>
          <a:xfrm>
            <a:off x="777240" y="2423160"/>
            <a:ext cx="7589520" cy="548640"/>
          </a:xfrm>
          <a:prstGeom prst="rect">
            <a:avLst/>
          </a:prstGeom>
          <a:noFill/>
          <a:ln/>
        </p:spPr>
        <p:txBody>
          <a:bodyPr wrap="square" lIns="0" tIns="0" rIns="0" bIns="0" rtlCol="0" anchor="ctr"/>
          <a:lstStyle/>
          <a:p>
            <a:pPr marL="0" indent="0">
              <a:buNone/>
            </a:pPr>
            <a:r>
              <a:rPr lang="en-US" sz="1700" dirty="0">
                <a:solidFill>
                  <a:srgbClr val="CADCFC"/>
                </a:solidFill>
                <a:latin typeface="Calibri" pitchFamily="34" charset="0"/>
                <a:ea typeface="Calibri" pitchFamily="34" charset="-122"/>
                <a:cs typeface="Calibri" pitchFamily="34" charset="-120"/>
              </a:rPr>
              <a:t>That single fact decides which numbers are worth reporting.</a:t>
            </a:r>
            <a:endParaRPr lang="en-US" sz="1700" dirty="0"/>
          </a:p>
        </p:txBody>
      </p:sp>
      <p:sp>
        <p:nvSpPr>
          <p:cNvPr id="7" name="Shape 5"/>
          <p:cNvSpPr/>
          <p:nvPr/>
        </p:nvSpPr>
        <p:spPr>
          <a:xfrm>
            <a:off x="777240" y="3429000"/>
            <a:ext cx="3401568" cy="2286000"/>
          </a:xfrm>
          <a:prstGeom prst="roundRect">
            <a:avLst>
              <a:gd name="adj" fmla="val 4400"/>
            </a:avLst>
          </a:prstGeom>
          <a:solidFill>
            <a:srgbClr val="13375E"/>
          </a:solidFill>
          <a:ln w="12700">
            <a:solidFill>
              <a:srgbClr val="333333"/>
            </a:solidFill>
            <a:prstDash val="solid"/>
          </a:ln>
        </p:spPr>
        <p:txBody>
          <a:bodyPr/>
          <a:lstStyle/>
          <a:p>
            <a:endParaRPr lang="en-US"/>
          </a:p>
        </p:txBody>
      </p:sp>
      <p:sp>
        <p:nvSpPr>
          <p:cNvPr id="8" name="Text 6"/>
          <p:cNvSpPr/>
          <p:nvPr/>
        </p:nvSpPr>
        <p:spPr>
          <a:xfrm>
            <a:off x="1051560" y="3657600"/>
            <a:ext cx="2852928" cy="658368"/>
          </a:xfrm>
          <a:prstGeom prst="rect">
            <a:avLst/>
          </a:prstGeom>
          <a:noFill/>
          <a:ln/>
        </p:spPr>
        <p:txBody>
          <a:bodyPr wrap="square" lIns="0" tIns="0" rIns="0" bIns="0" rtlCol="0" anchor="ctr"/>
          <a:lstStyle/>
          <a:p>
            <a:pPr marL="0" indent="0">
              <a:buNone/>
            </a:pPr>
            <a:r>
              <a:rPr lang="en-US" sz="2700" b="1" dirty="0">
                <a:solidFill>
                  <a:srgbClr val="EB6834"/>
                </a:solidFill>
                <a:latin typeface="Cambria" pitchFamily="34" charset="0"/>
                <a:ea typeface="Cambria" pitchFamily="34" charset="-122"/>
                <a:cs typeface="Cambria" pitchFamily="34" charset="-120"/>
              </a:rPr>
              <a:t>0.090</a:t>
            </a:r>
            <a:endParaRPr lang="en-US" sz="2700" dirty="0"/>
          </a:p>
        </p:txBody>
      </p:sp>
      <p:sp>
        <p:nvSpPr>
          <p:cNvPr id="9" name="Text 7"/>
          <p:cNvSpPr/>
          <p:nvPr/>
        </p:nvSpPr>
        <p:spPr>
          <a:xfrm>
            <a:off x="1051560" y="4370832"/>
            <a:ext cx="2852928" cy="1188720"/>
          </a:xfrm>
          <a:prstGeom prst="rect">
            <a:avLst/>
          </a:prstGeom>
          <a:noFill/>
          <a:ln/>
        </p:spPr>
        <p:txBody>
          <a:bodyPr wrap="square" lIns="0" tIns="0" rIns="0" bIns="0" rtlCol="0" anchor="t"/>
          <a:lstStyle/>
          <a:p>
            <a:pPr marL="0" indent="0">
              <a:lnSpc>
                <a:spcPts val="1900"/>
              </a:lnSpc>
              <a:buNone/>
            </a:pPr>
            <a:r>
              <a:rPr lang="en-US" sz="1300" dirty="0">
                <a:solidFill>
                  <a:srgbClr val="CADCFC"/>
                </a:solidFill>
                <a:latin typeface="Calibri" pitchFamily="34" charset="0"/>
                <a:ea typeface="Calibri" pitchFamily="34" charset="-122"/>
                <a:cs typeface="Calibri" pitchFamily="34" charset="-120"/>
              </a:rPr>
              <a:t>What pure guessing scores. Every result gets compared to this line.</a:t>
            </a:r>
            <a:endParaRPr lang="en-US" sz="1300" dirty="0"/>
          </a:p>
        </p:txBody>
      </p:sp>
      <p:sp>
        <p:nvSpPr>
          <p:cNvPr id="10" name="Shape 8"/>
          <p:cNvSpPr/>
          <p:nvPr/>
        </p:nvSpPr>
        <p:spPr>
          <a:xfrm>
            <a:off x="4434840" y="3429000"/>
            <a:ext cx="3401568" cy="2286000"/>
          </a:xfrm>
          <a:prstGeom prst="roundRect">
            <a:avLst>
              <a:gd name="adj" fmla="val 4400"/>
            </a:avLst>
          </a:prstGeom>
          <a:solidFill>
            <a:srgbClr val="13375E"/>
          </a:solidFill>
          <a:ln w="12700">
            <a:solidFill>
              <a:srgbClr val="333333"/>
            </a:solidFill>
            <a:prstDash val="solid"/>
          </a:ln>
        </p:spPr>
        <p:txBody>
          <a:bodyPr/>
          <a:lstStyle/>
          <a:p>
            <a:endParaRPr lang="en-US"/>
          </a:p>
        </p:txBody>
      </p:sp>
      <p:sp>
        <p:nvSpPr>
          <p:cNvPr id="11" name="Text 9"/>
          <p:cNvSpPr/>
          <p:nvPr/>
        </p:nvSpPr>
        <p:spPr>
          <a:xfrm>
            <a:off x="4709160" y="3657600"/>
            <a:ext cx="2852928" cy="658368"/>
          </a:xfrm>
          <a:prstGeom prst="rect">
            <a:avLst/>
          </a:prstGeom>
          <a:noFill/>
          <a:ln/>
        </p:spPr>
        <p:txBody>
          <a:bodyPr wrap="square" lIns="0" tIns="0" rIns="0" bIns="0" rtlCol="0" anchor="ctr"/>
          <a:lstStyle/>
          <a:p>
            <a:pPr marL="0" indent="0">
              <a:buNone/>
            </a:pPr>
            <a:r>
              <a:rPr lang="en-US" sz="2700" b="1" dirty="0">
                <a:solidFill>
                  <a:srgbClr val="EB6834"/>
                </a:solidFill>
                <a:latin typeface="Cambria" pitchFamily="34" charset="0"/>
                <a:ea typeface="Cambria" pitchFamily="34" charset="-122"/>
                <a:cs typeface="Cambria" pitchFamily="34" charset="-120"/>
              </a:rPr>
              <a:t>PR-AUC</a:t>
            </a:r>
            <a:endParaRPr lang="en-US" sz="2700" dirty="0"/>
          </a:p>
        </p:txBody>
      </p:sp>
      <p:sp>
        <p:nvSpPr>
          <p:cNvPr id="12" name="Text 10"/>
          <p:cNvSpPr/>
          <p:nvPr/>
        </p:nvSpPr>
        <p:spPr>
          <a:xfrm>
            <a:off x="4709160" y="4370832"/>
            <a:ext cx="2852928" cy="1188720"/>
          </a:xfrm>
          <a:prstGeom prst="rect">
            <a:avLst/>
          </a:prstGeom>
          <a:noFill/>
          <a:ln/>
        </p:spPr>
        <p:txBody>
          <a:bodyPr wrap="square" lIns="0" tIns="0" rIns="0" bIns="0" rtlCol="0" anchor="t"/>
          <a:lstStyle/>
          <a:p>
            <a:pPr marL="0" indent="0">
              <a:lnSpc>
                <a:spcPts val="1900"/>
              </a:lnSpc>
              <a:buNone/>
            </a:pPr>
            <a:r>
              <a:rPr lang="en-US" sz="1300" dirty="0">
                <a:solidFill>
                  <a:srgbClr val="CADCFC"/>
                </a:solidFill>
                <a:latin typeface="Calibri" pitchFamily="34" charset="0"/>
                <a:ea typeface="Calibri" pitchFamily="34" charset="-122"/>
                <a:cs typeface="Calibri" pitchFamily="34" charset="-120"/>
              </a:rPr>
              <a:t>One number for the whole trade-off between catching spikes and crying wolf.</a:t>
            </a:r>
            <a:endParaRPr lang="en-US" sz="1300" dirty="0"/>
          </a:p>
        </p:txBody>
      </p:sp>
      <p:sp>
        <p:nvSpPr>
          <p:cNvPr id="13" name="Shape 11"/>
          <p:cNvSpPr/>
          <p:nvPr/>
        </p:nvSpPr>
        <p:spPr>
          <a:xfrm>
            <a:off x="8092440" y="3429000"/>
            <a:ext cx="3401568" cy="2286000"/>
          </a:xfrm>
          <a:prstGeom prst="roundRect">
            <a:avLst>
              <a:gd name="adj" fmla="val 4400"/>
            </a:avLst>
          </a:prstGeom>
          <a:solidFill>
            <a:srgbClr val="13375E"/>
          </a:solidFill>
          <a:ln w="12700">
            <a:solidFill>
              <a:srgbClr val="333333"/>
            </a:solidFill>
            <a:prstDash val="solid"/>
          </a:ln>
        </p:spPr>
        <p:txBody>
          <a:bodyPr/>
          <a:lstStyle/>
          <a:p>
            <a:endParaRPr lang="en-US"/>
          </a:p>
        </p:txBody>
      </p:sp>
      <p:sp>
        <p:nvSpPr>
          <p:cNvPr id="14" name="Text 12"/>
          <p:cNvSpPr/>
          <p:nvPr/>
        </p:nvSpPr>
        <p:spPr>
          <a:xfrm>
            <a:off x="8366760" y="3657600"/>
            <a:ext cx="2852928" cy="658368"/>
          </a:xfrm>
          <a:prstGeom prst="rect">
            <a:avLst/>
          </a:prstGeom>
          <a:noFill/>
          <a:ln/>
        </p:spPr>
        <p:txBody>
          <a:bodyPr wrap="square" lIns="0" tIns="0" rIns="0" bIns="0" rtlCol="0" anchor="ctr"/>
          <a:lstStyle/>
          <a:p>
            <a:pPr marL="0" indent="0">
              <a:buNone/>
            </a:pPr>
            <a:r>
              <a:rPr lang="en-US" sz="2700" b="1" dirty="0">
                <a:solidFill>
                  <a:srgbClr val="EB6834"/>
                </a:solidFill>
                <a:latin typeface="Cambria" pitchFamily="34" charset="0"/>
                <a:ea typeface="Cambria" pitchFamily="34" charset="-122"/>
                <a:cs typeface="Cambria" pitchFamily="34" charset="-120"/>
              </a:rPr>
              <a:t>1 in 10</a:t>
            </a:r>
            <a:endParaRPr lang="en-US" sz="2700" dirty="0"/>
          </a:p>
        </p:txBody>
      </p:sp>
      <p:sp>
        <p:nvSpPr>
          <p:cNvPr id="15" name="Text 13"/>
          <p:cNvSpPr/>
          <p:nvPr/>
        </p:nvSpPr>
        <p:spPr>
          <a:xfrm>
            <a:off x="8366760" y="4370832"/>
            <a:ext cx="2852928" cy="1188720"/>
          </a:xfrm>
          <a:prstGeom prst="rect">
            <a:avLst/>
          </a:prstGeom>
          <a:noFill/>
          <a:ln/>
        </p:spPr>
        <p:txBody>
          <a:bodyPr wrap="square" lIns="0" tIns="0" rIns="0" bIns="0" rtlCol="0" anchor="t"/>
          <a:lstStyle/>
          <a:p>
            <a:pPr marL="0" indent="0">
              <a:lnSpc>
                <a:spcPts val="1900"/>
              </a:lnSpc>
              <a:buNone/>
            </a:pPr>
            <a:r>
              <a:rPr lang="en-US" sz="1300" dirty="0">
                <a:solidFill>
                  <a:srgbClr val="CADCFC"/>
                </a:solidFill>
                <a:latin typeface="Calibri" pitchFamily="34" charset="0"/>
                <a:ea typeface="Calibri" pitchFamily="34" charset="-122"/>
                <a:cs typeface="Calibri" pitchFamily="34" charset="-120"/>
              </a:rPr>
              <a:t>The alert budget. If only one quiet week in ten may raise an alarm, how many real spikes do we catch?</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RESULT 1</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There is a real signal, and it fades with distance</a:t>
            </a:r>
            <a:endParaRPr lang="en-US" sz="3300" dirty="0"/>
          </a:p>
        </p:txBody>
      </p:sp>
      <p:pic>
        <p:nvPicPr>
          <p:cNvPr id="5" name="Image 0" descr="/home/claude/figs/fig2_pr_auc.png"/>
          <p:cNvPicPr>
            <a:picLocks noChangeAspect="1"/>
          </p:cNvPicPr>
          <p:nvPr/>
        </p:nvPicPr>
        <p:blipFill>
          <a:blip r:embed="rId3"/>
          <a:stretch>
            <a:fillRect/>
          </a:stretch>
        </p:blipFill>
        <p:spPr>
          <a:xfrm>
            <a:off x="566928" y="1737360"/>
            <a:ext cx="6903720" cy="4204365"/>
          </a:xfrm>
          <a:prstGeom prst="rect">
            <a:avLst/>
          </a:prstGeom>
        </p:spPr>
      </p:pic>
      <p:sp>
        <p:nvSpPr>
          <p:cNvPr id="6" name="Shape 3"/>
          <p:cNvSpPr/>
          <p:nvPr/>
        </p:nvSpPr>
        <p:spPr>
          <a:xfrm>
            <a:off x="7772400" y="1737360"/>
            <a:ext cx="3886200" cy="4114800"/>
          </a:xfrm>
          <a:prstGeom prst="roundRect">
            <a:avLst>
              <a:gd name="adj" fmla="val 2588"/>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7" name="Text 4"/>
          <p:cNvSpPr/>
          <p:nvPr/>
        </p:nvSpPr>
        <p:spPr>
          <a:xfrm>
            <a:off x="8065008" y="2011680"/>
            <a:ext cx="3300984" cy="685800"/>
          </a:xfrm>
          <a:prstGeom prst="rect">
            <a:avLst/>
          </a:prstGeom>
          <a:noFill/>
          <a:ln/>
        </p:spPr>
        <p:txBody>
          <a:bodyPr wrap="square" lIns="0" tIns="0" rIns="0" bIns="0" rtlCol="0" anchor="t"/>
          <a:lstStyle/>
          <a:p>
            <a:pPr marL="0" indent="0">
              <a:buNone/>
            </a:pPr>
            <a:r>
              <a:rPr lang="en-US" sz="1900" b="1" dirty="0">
                <a:solidFill>
                  <a:srgbClr val="0B2545"/>
                </a:solidFill>
                <a:latin typeface="Cambria" pitchFamily="34" charset="0"/>
                <a:ea typeface="Cambria" pitchFamily="34" charset="-122"/>
                <a:cs typeface="Cambria" pitchFamily="34" charset="-120"/>
              </a:rPr>
              <a:t>Roughly twice as good as guessing</a:t>
            </a:r>
            <a:endParaRPr lang="en-US" sz="1900" dirty="0"/>
          </a:p>
        </p:txBody>
      </p:sp>
      <p:sp>
        <p:nvSpPr>
          <p:cNvPr id="8" name="Text 5"/>
          <p:cNvSpPr/>
          <p:nvPr/>
        </p:nvSpPr>
        <p:spPr>
          <a:xfrm>
            <a:off x="8065008" y="2761488"/>
            <a:ext cx="3300984" cy="278892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0.172 one week out, against a 0.090 floor: a 1.9x lift.</a:t>
            </a:r>
            <a:endParaRPr lang="en-US" sz="1350" dirty="0"/>
          </a:p>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Decays smoothly to 0.131 by four weeks.</a:t>
            </a:r>
            <a:endParaRPr lang="en-US" sz="1350" dirty="0"/>
          </a:p>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So the useful horizon is one to two weeks, not a month.</a:t>
            </a:r>
            <a:endParaRPr lang="en-US" sz="1350" dirty="0"/>
          </a:p>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Straight-line model edges it at +1 week. More on that shortly.</a:t>
            </a:r>
            <a:endParaRPr lang="en-US" sz="1350" dirty="0"/>
          </a:p>
        </p:txBody>
      </p:sp>
      <p:sp>
        <p:nvSpPr>
          <p:cNvPr id="9" name="Text 6"/>
          <p:cNvSpPr/>
          <p:nvPr/>
        </p:nvSpPr>
        <p:spPr>
          <a:xfrm>
            <a:off x="566928" y="6053328"/>
            <a:ext cx="11064240" cy="411480"/>
          </a:xfrm>
          <a:prstGeom prst="rect">
            <a:avLst/>
          </a:prstGeom>
          <a:noFill/>
          <a:ln/>
        </p:spPr>
        <p:txBody>
          <a:bodyPr wrap="square" lIns="0" tIns="0" rIns="0" bIns="0" rtlCol="0" anchor="ctr"/>
          <a:lstStyle/>
          <a:p>
            <a:pPr marL="0" indent="0">
              <a:buNone/>
            </a:pPr>
            <a:r>
              <a:rPr lang="en-US" sz="1200" i="1" dirty="0">
                <a:solidFill>
                  <a:srgbClr val="5D6B7A"/>
                </a:solidFill>
                <a:latin typeface="Calibri" pitchFamily="34" charset="0"/>
                <a:ea typeface="Calibri" pitchFamily="34" charset="-122"/>
                <a:cs typeface="Calibri" pitchFamily="34" charset="-120"/>
              </a:rPr>
              <a:t>PR-AUC summarises the whole precision/recall trade-off in one number. Chance level equals the share of weeks that are spikes.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RESULT 2</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It beats the rule of thumb at every horizon</a:t>
            </a:r>
            <a:endParaRPr lang="en-US" sz="3300" dirty="0"/>
          </a:p>
        </p:txBody>
      </p:sp>
      <p:pic>
        <p:nvPicPr>
          <p:cNvPr id="5" name="Image 0" descr="/home/claude/figs/fig4_f1.png"/>
          <p:cNvPicPr>
            <a:picLocks noChangeAspect="1"/>
          </p:cNvPicPr>
          <p:nvPr/>
        </p:nvPicPr>
        <p:blipFill>
          <a:blip r:embed="rId3"/>
          <a:stretch>
            <a:fillRect/>
          </a:stretch>
        </p:blipFill>
        <p:spPr>
          <a:xfrm>
            <a:off x="566928" y="1737360"/>
            <a:ext cx="6903720" cy="4317586"/>
          </a:xfrm>
          <a:prstGeom prst="rect">
            <a:avLst/>
          </a:prstGeom>
        </p:spPr>
      </p:pic>
      <p:sp>
        <p:nvSpPr>
          <p:cNvPr id="6" name="Shape 3"/>
          <p:cNvSpPr/>
          <p:nvPr/>
        </p:nvSpPr>
        <p:spPr>
          <a:xfrm>
            <a:off x="7772400" y="1737360"/>
            <a:ext cx="3886200" cy="4114800"/>
          </a:xfrm>
          <a:prstGeom prst="roundRect">
            <a:avLst>
              <a:gd name="adj" fmla="val 2588"/>
            </a:avLst>
          </a:prstGeom>
          <a:solidFill>
            <a:srgbClr val="13375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7" name="Text 4"/>
          <p:cNvSpPr/>
          <p:nvPr/>
        </p:nvSpPr>
        <p:spPr>
          <a:xfrm>
            <a:off x="8065008" y="2011680"/>
            <a:ext cx="3300984" cy="685800"/>
          </a:xfrm>
          <a:prstGeom prst="rect">
            <a:avLst/>
          </a:prstGeom>
          <a:noFill/>
          <a:ln/>
        </p:spPr>
        <p:txBody>
          <a:bodyPr wrap="square" lIns="0" tIns="0" rIns="0" bIns="0" rtlCol="0" anchor="t"/>
          <a:lstStyle/>
          <a:p>
            <a:pPr marL="0" indent="0">
              <a:buNone/>
            </a:pPr>
            <a:r>
              <a:rPr lang="en-US" sz="1900" b="1" dirty="0">
                <a:solidFill>
                  <a:srgbClr val="FFFFFF"/>
                </a:solidFill>
                <a:latin typeface="Cambria" pitchFamily="34" charset="0"/>
                <a:ea typeface="Cambria" pitchFamily="34" charset="-122"/>
                <a:cs typeface="Cambria" pitchFamily="34" charset="-120"/>
              </a:rPr>
              <a:t>The most trustworthy finding here</a:t>
            </a:r>
            <a:endParaRPr lang="en-US" sz="1900" dirty="0"/>
          </a:p>
        </p:txBody>
      </p:sp>
      <p:sp>
        <p:nvSpPr>
          <p:cNvPr id="8" name="Text 5"/>
          <p:cNvSpPr/>
          <p:nvPr/>
        </p:nvSpPr>
        <p:spPr>
          <a:xfrm>
            <a:off x="8065008" y="2761488"/>
            <a:ext cx="3300984" cy="278892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Better than "assume next week looks like this week" at every horizon.</a:t>
            </a:r>
            <a:endParaRPr lang="en-US" sz="1350" dirty="0"/>
          </a:p>
          <a:p>
            <a:pPr marL="342900" indent="-342900">
              <a:lnSpc>
                <a:spcPts val="1900"/>
              </a:lnSpc>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The margin widens: 35% better at one week, 99% at three.</a:t>
            </a:r>
            <a:endParaRPr lang="en-US" sz="1350" dirty="0"/>
          </a:p>
          <a:p>
            <a:pPr marL="342900" indent="-342900">
              <a:lnSpc>
                <a:spcPts val="1900"/>
              </a:lnSpc>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The rule of thumb collapses with distance; the model does not.</a:t>
            </a:r>
            <a:endParaRPr lang="en-US" sz="1350" dirty="0"/>
          </a:p>
          <a:p>
            <a:pPr marL="342900" indent="-342900">
              <a:lnSpc>
                <a:spcPts val="1900"/>
              </a:lnSpc>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That gap is the evidence it learned about build-up, not just inertia.</a:t>
            </a:r>
            <a:endParaRPr lang="en-US" sz="1350" dirty="0"/>
          </a:p>
        </p:txBody>
      </p:sp>
      <p:sp>
        <p:nvSpPr>
          <p:cNvPr id="9" name="Text 6"/>
          <p:cNvSpPr/>
          <p:nvPr/>
        </p:nvSpPr>
        <p:spPr>
          <a:xfrm>
            <a:off x="566928" y="6053328"/>
            <a:ext cx="11064240" cy="411480"/>
          </a:xfrm>
          <a:prstGeom prst="rect">
            <a:avLst/>
          </a:prstGeom>
          <a:noFill/>
          <a:ln/>
        </p:spPr>
        <p:txBody>
          <a:bodyPr wrap="square" lIns="0" tIns="0" rIns="0" bIns="0" rtlCol="0" anchor="ctr"/>
          <a:lstStyle/>
          <a:p>
            <a:pPr marL="0" indent="0">
              <a:buNone/>
            </a:pPr>
            <a:r>
              <a:rPr lang="en-US" sz="1200" i="1" dirty="0">
                <a:solidFill>
                  <a:srgbClr val="5D6B7A"/>
                </a:solidFill>
                <a:latin typeface="Calibri" pitchFamily="34" charset="0"/>
                <a:ea typeface="Calibri" pitchFamily="34" charset="-122"/>
                <a:cs typeface="Calibri" pitchFamily="34" charset="-120"/>
              </a:rPr>
              <a:t>F1 balances catching real spikes against crying wolf. Higher is better; the persistence rule is the no-model floor.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RESULT 3</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When it says 15%, it means about 15%</a:t>
            </a:r>
            <a:endParaRPr lang="en-US" sz="3300" dirty="0"/>
          </a:p>
        </p:txBody>
      </p:sp>
      <p:pic>
        <p:nvPicPr>
          <p:cNvPr id="5" name="Image 0" descr="/home/claude/figs/fig6_calibration.png"/>
          <p:cNvPicPr>
            <a:picLocks noChangeAspect="1"/>
          </p:cNvPicPr>
          <p:nvPr/>
        </p:nvPicPr>
        <p:blipFill>
          <a:blip r:embed="rId3"/>
          <a:stretch>
            <a:fillRect/>
          </a:stretch>
        </p:blipFill>
        <p:spPr>
          <a:xfrm>
            <a:off x="960120" y="1737360"/>
            <a:ext cx="5577840" cy="4336771"/>
          </a:xfrm>
          <a:prstGeom prst="rect">
            <a:avLst/>
          </a:prstGeom>
        </p:spPr>
      </p:pic>
      <p:sp>
        <p:nvSpPr>
          <p:cNvPr id="6" name="Shape 3"/>
          <p:cNvSpPr/>
          <p:nvPr/>
        </p:nvSpPr>
        <p:spPr>
          <a:xfrm>
            <a:off x="7086600" y="1737360"/>
            <a:ext cx="4572000" cy="4114800"/>
          </a:xfrm>
          <a:prstGeom prst="roundRect">
            <a:avLst>
              <a:gd name="adj" fmla="val 2444"/>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7" name="Text 4"/>
          <p:cNvSpPr/>
          <p:nvPr/>
        </p:nvSpPr>
        <p:spPr>
          <a:xfrm>
            <a:off x="7379208" y="2011680"/>
            <a:ext cx="3986784" cy="685800"/>
          </a:xfrm>
          <a:prstGeom prst="rect">
            <a:avLst/>
          </a:prstGeom>
          <a:noFill/>
          <a:ln/>
        </p:spPr>
        <p:txBody>
          <a:bodyPr wrap="square" lIns="0" tIns="0" rIns="0" bIns="0" rtlCol="0" anchor="t"/>
          <a:lstStyle/>
          <a:p>
            <a:pPr marL="0" indent="0">
              <a:buNone/>
            </a:pPr>
            <a:r>
              <a:rPr lang="en-US" sz="1900" b="1" dirty="0">
                <a:solidFill>
                  <a:srgbClr val="0B2545"/>
                </a:solidFill>
                <a:latin typeface="Cambria" pitchFamily="34" charset="0"/>
                <a:ea typeface="Cambria" pitchFamily="34" charset="-122"/>
                <a:cs typeface="Cambria" pitchFamily="34" charset="-120"/>
              </a:rPr>
              <a:t>The probabilities are honest</a:t>
            </a:r>
            <a:endParaRPr lang="en-US" sz="1900" dirty="0"/>
          </a:p>
        </p:txBody>
      </p:sp>
      <p:sp>
        <p:nvSpPr>
          <p:cNvPr id="8" name="Text 5"/>
          <p:cNvSpPr/>
          <p:nvPr/>
        </p:nvSpPr>
        <p:spPr>
          <a:xfrm>
            <a:off x="7379208" y="2761488"/>
            <a:ext cx="3986784" cy="278892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Across nine of ten confidence bands, predicted and observed rates track closely.</a:t>
            </a:r>
            <a:endParaRPr lang="en-US" sz="1350" dirty="0"/>
          </a:p>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The most confident band overshoots: 0.268 predicted against 0.200 observed.</a:t>
            </a:r>
            <a:endParaRPr lang="en-US" sz="1350" dirty="0"/>
          </a:p>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Nothing in the training optimises for this. It came out clean anyway.</a:t>
            </a:r>
            <a:endParaRPr lang="en-US" sz="1350" dirty="0"/>
          </a:p>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It matters because a calibrated score can be compared across countries and thresholded to your own risk appetite.</a:t>
            </a:r>
            <a:endParaRPr lang="en-US" sz="1350" dirty="0"/>
          </a:p>
        </p:txBody>
      </p:sp>
      <p:sp>
        <p:nvSpPr>
          <p:cNvPr id="9" name="Text 6"/>
          <p:cNvSpPr/>
          <p:nvPr/>
        </p:nvSpPr>
        <p:spPr>
          <a:xfrm>
            <a:off x="566928" y="6053328"/>
            <a:ext cx="11064240" cy="411480"/>
          </a:xfrm>
          <a:prstGeom prst="rect">
            <a:avLst/>
          </a:prstGeom>
          <a:noFill/>
          <a:ln/>
        </p:spPr>
        <p:txBody>
          <a:bodyPr wrap="square" lIns="0" tIns="0" rIns="0" bIns="0" rtlCol="0" anchor="ctr"/>
          <a:lstStyle/>
          <a:p>
            <a:pPr marL="0" indent="0">
              <a:buNone/>
            </a:pPr>
            <a:r>
              <a:rPr lang="en-US" sz="1200" i="1" dirty="0">
                <a:solidFill>
                  <a:srgbClr val="5D6B7A"/>
                </a:solidFill>
                <a:latin typeface="Calibri" pitchFamily="34" charset="0"/>
                <a:ea typeface="Calibri" pitchFamily="34" charset="-122"/>
                <a:cs typeface="Calibri" pitchFamily="34" charset="-120"/>
              </a:rPr>
              <a:t>Each point is one tenth of the test weeks, grouped by how confident the model was. On the dashed line, the forecast is exactly right on average.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RESULT 4</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Hostile words help, but less than hoped</a:t>
            </a:r>
            <a:endParaRPr lang="en-US" sz="3300" dirty="0"/>
          </a:p>
        </p:txBody>
      </p:sp>
      <p:pic>
        <p:nvPicPr>
          <p:cNvPr id="5" name="Image 0" descr="/home/claude/figs/fig7_importances.png"/>
          <p:cNvPicPr>
            <a:picLocks noChangeAspect="1"/>
          </p:cNvPicPr>
          <p:nvPr/>
        </p:nvPicPr>
        <p:blipFill>
          <a:blip r:embed="rId3"/>
          <a:stretch>
            <a:fillRect/>
          </a:stretch>
        </p:blipFill>
        <p:spPr>
          <a:xfrm>
            <a:off x="566928" y="1783080"/>
            <a:ext cx="6903720" cy="3692800"/>
          </a:xfrm>
          <a:prstGeom prst="rect">
            <a:avLst/>
          </a:prstGeom>
        </p:spPr>
      </p:pic>
      <p:sp>
        <p:nvSpPr>
          <p:cNvPr id="6" name="Shape 3"/>
          <p:cNvSpPr/>
          <p:nvPr/>
        </p:nvSpPr>
        <p:spPr>
          <a:xfrm>
            <a:off x="7772400" y="1737360"/>
            <a:ext cx="3886200" cy="4114800"/>
          </a:xfrm>
          <a:prstGeom prst="roundRect">
            <a:avLst>
              <a:gd name="adj" fmla="val 2588"/>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7" name="Text 4"/>
          <p:cNvSpPr/>
          <p:nvPr/>
        </p:nvSpPr>
        <p:spPr>
          <a:xfrm>
            <a:off x="8065008" y="2011680"/>
            <a:ext cx="3300984" cy="685800"/>
          </a:xfrm>
          <a:prstGeom prst="rect">
            <a:avLst/>
          </a:prstGeom>
          <a:noFill/>
          <a:ln/>
        </p:spPr>
        <p:txBody>
          <a:bodyPr wrap="square" lIns="0" tIns="0" rIns="0" bIns="0" rtlCol="0" anchor="t"/>
          <a:lstStyle/>
          <a:p>
            <a:pPr marL="0" indent="0">
              <a:buNone/>
            </a:pPr>
            <a:r>
              <a:rPr lang="en-US" sz="1900" b="1" dirty="0">
                <a:solidFill>
                  <a:srgbClr val="0B2545"/>
                </a:solidFill>
                <a:latin typeface="Cambria" pitchFamily="34" charset="0"/>
                <a:ea typeface="Cambria" pitchFamily="34" charset="-122"/>
                <a:cs typeface="Cambria" pitchFamily="34" charset="-120"/>
              </a:rPr>
              <a:t>The escalation ladder, partly confirmed</a:t>
            </a:r>
            <a:endParaRPr lang="en-US" sz="1900" dirty="0"/>
          </a:p>
        </p:txBody>
      </p:sp>
      <p:sp>
        <p:nvSpPr>
          <p:cNvPr id="8" name="Text 5"/>
          <p:cNvSpPr/>
          <p:nvPr/>
        </p:nvSpPr>
        <p:spPr>
          <a:xfrm>
            <a:off x="8065008" y="2761488"/>
            <a:ext cx="3300984" cy="278892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The hypothesis: threats and protests come before violence.</a:t>
            </a:r>
            <a:endParaRPr lang="en-US" sz="1350" dirty="0"/>
          </a:p>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Verbal conflict does rank third: real, and it survives at every horizon.</a:t>
            </a:r>
            <a:endParaRPr lang="en-US" sz="1350" dirty="0"/>
          </a:p>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But a country's own recent violence dominates the top of the list.</a:t>
            </a:r>
            <a:endParaRPr lang="en-US" sz="1350" dirty="0"/>
          </a:p>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Honest verdict: most of what is predictable here is momentum, with verbal friction adding a genuine second increment.</a:t>
            </a:r>
            <a:endParaRPr lang="en-US" sz="1350" dirty="0"/>
          </a:p>
        </p:txBody>
      </p:sp>
      <p:sp>
        <p:nvSpPr>
          <p:cNvPr id="9" name="Text 6"/>
          <p:cNvSpPr/>
          <p:nvPr/>
        </p:nvSpPr>
        <p:spPr>
          <a:xfrm>
            <a:off x="566928" y="6053328"/>
            <a:ext cx="11064240" cy="411480"/>
          </a:xfrm>
          <a:prstGeom prst="rect">
            <a:avLst/>
          </a:prstGeom>
          <a:noFill/>
          <a:ln/>
        </p:spPr>
        <p:txBody>
          <a:bodyPr wrap="square" lIns="0" tIns="0" rIns="0" bIns="0" rtlCol="0" anchor="ctr"/>
          <a:lstStyle/>
          <a:p>
            <a:pPr marL="0" indent="0">
              <a:buNone/>
            </a:pPr>
            <a:r>
              <a:rPr lang="en-US" sz="1200" i="1" dirty="0">
                <a:solidFill>
                  <a:srgbClr val="5D6B7A"/>
                </a:solidFill>
                <a:latin typeface="Calibri" pitchFamily="34" charset="0"/>
                <a:ea typeface="Calibri" pitchFamily="34" charset="-122"/>
                <a:cs typeface="Calibri" pitchFamily="34" charset="-120"/>
              </a:rPr>
              <a:t>Importance is how much each feature contributed to the model's decisions. No single feature carries more than 7.6 percent.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ONE COUNTRY, UP CLOSE</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Ethiopia through the weeks the model had never seen</a:t>
            </a:r>
            <a:endParaRPr lang="en-US" sz="3300" dirty="0"/>
          </a:p>
        </p:txBody>
      </p:sp>
      <p:pic>
        <p:nvPicPr>
          <p:cNvPr id="5" name="Image 0" descr="/home/claude/figs/fig8_ethiopia.png"/>
          <p:cNvPicPr>
            <a:picLocks noChangeAspect="1"/>
          </p:cNvPicPr>
          <p:nvPr/>
        </p:nvPicPr>
        <p:blipFill>
          <a:blip r:embed="rId3"/>
          <a:stretch>
            <a:fillRect/>
          </a:stretch>
        </p:blipFill>
        <p:spPr>
          <a:xfrm>
            <a:off x="566928" y="1737360"/>
            <a:ext cx="7178040" cy="4640603"/>
          </a:xfrm>
          <a:prstGeom prst="rect">
            <a:avLst/>
          </a:prstGeom>
        </p:spPr>
      </p:pic>
      <p:sp>
        <p:nvSpPr>
          <p:cNvPr id="6" name="Shape 3"/>
          <p:cNvSpPr/>
          <p:nvPr/>
        </p:nvSpPr>
        <p:spPr>
          <a:xfrm>
            <a:off x="7955280" y="1737360"/>
            <a:ext cx="3703320" cy="4160520"/>
          </a:xfrm>
          <a:prstGeom prst="roundRect">
            <a:avLst>
              <a:gd name="adj" fmla="val 2716"/>
            </a:avLst>
          </a:prstGeom>
          <a:solidFill>
            <a:srgbClr val="13375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7" name="Text 4"/>
          <p:cNvSpPr/>
          <p:nvPr/>
        </p:nvSpPr>
        <p:spPr>
          <a:xfrm>
            <a:off x="8247888" y="2011680"/>
            <a:ext cx="3118104" cy="685800"/>
          </a:xfrm>
          <a:prstGeom prst="rect">
            <a:avLst/>
          </a:prstGeom>
          <a:noFill/>
          <a:ln/>
        </p:spPr>
        <p:txBody>
          <a:bodyPr wrap="square" lIns="0" tIns="0" rIns="0" bIns="0" rtlCol="0" anchor="t"/>
          <a:lstStyle/>
          <a:p>
            <a:pPr marL="0" indent="0">
              <a:buNone/>
            </a:pPr>
            <a:r>
              <a:rPr lang="en-US" sz="1900" b="1" dirty="0">
                <a:solidFill>
                  <a:srgbClr val="FFFFFF"/>
                </a:solidFill>
                <a:latin typeface="Cambria" pitchFamily="34" charset="0"/>
                <a:ea typeface="Cambria" pitchFamily="34" charset="-122"/>
                <a:cs typeface="Cambria" pitchFamily="34" charset="-120"/>
              </a:rPr>
              <a:t>What it looks like when it works</a:t>
            </a:r>
            <a:endParaRPr lang="en-US" sz="1900" dirty="0"/>
          </a:p>
        </p:txBody>
      </p:sp>
      <p:sp>
        <p:nvSpPr>
          <p:cNvPr id="8" name="Text 5"/>
          <p:cNvSpPr/>
          <p:nvPr/>
        </p:nvSpPr>
        <p:spPr>
          <a:xfrm>
            <a:off x="8247888" y="2761488"/>
            <a:ext cx="3118104" cy="283464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Top: violent events each week against the country's own baseline; dots are real spikes.</a:t>
            </a:r>
            <a:endParaRPr lang="en-US" sz="1350" dirty="0"/>
          </a:p>
          <a:p>
            <a:pPr marL="342900" indent="-342900">
              <a:lnSpc>
                <a:spcPts val="1900"/>
              </a:lnSpc>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Bottom: the forecast made a week earlier for that same week.</a:t>
            </a:r>
            <a:endParaRPr lang="en-US" sz="1350" dirty="0"/>
          </a:p>
          <a:p>
            <a:pPr marL="342900" indent="-342900">
              <a:lnSpc>
                <a:spcPts val="1900"/>
              </a:lnSpc>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The forecast rises into the winter cluster, falls through the quiet spring, lifts again before May and June.</a:t>
            </a:r>
            <a:endParaRPr lang="en-US" sz="1350" dirty="0"/>
          </a:p>
          <a:p>
            <a:pPr marL="342900" indent="-342900">
              <a:lnSpc>
                <a:spcPts val="1900"/>
              </a:lnSpc>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Ethiopia is the best case in the test set, not a typical one. The spread slide is the honest counterweight.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a:effectLst/>
      </p:bgPr>
    </p:bg>
    <p:spTree>
      <p:nvGrpSpPr>
        <p:cNvPr id="1" name=""/>
        <p:cNvGrpSpPr/>
        <p:nvPr/>
      </p:nvGrpSpPr>
      <p:grpSpPr>
        <a:xfrm>
          <a:off x="0" y="0"/>
          <a:ext cx="0" cy="0"/>
          <a:chOff x="0" y="0"/>
          <a:chExt cx="0" cy="0"/>
        </a:xfrm>
      </p:grpSpPr>
      <p:sp>
        <p:nvSpPr>
          <p:cNvPr id="3" name="Shape 1"/>
          <p:cNvSpPr/>
          <p:nvPr/>
        </p:nvSpPr>
        <p:spPr>
          <a:xfrm>
            <a:off x="777240" y="786384"/>
            <a:ext cx="173736" cy="173736"/>
          </a:xfrm>
          <a:prstGeom prst="ellipse">
            <a:avLst/>
          </a:prstGeom>
          <a:solidFill>
            <a:srgbClr val="EB6834"/>
          </a:solidFill>
          <a:ln w="12700">
            <a:solidFill>
              <a:srgbClr val="333333"/>
            </a:solidFill>
            <a:prstDash val="solid"/>
          </a:ln>
        </p:spPr>
        <p:txBody>
          <a:bodyPr/>
          <a:lstStyle/>
          <a:p>
            <a:endParaRPr lang="en-US"/>
          </a:p>
        </p:txBody>
      </p:sp>
      <p:sp>
        <p:nvSpPr>
          <p:cNvPr id="4" name="Text 2"/>
          <p:cNvSpPr/>
          <p:nvPr/>
        </p:nvSpPr>
        <p:spPr>
          <a:xfrm>
            <a:off x="1078992" y="676656"/>
            <a:ext cx="5486400" cy="384048"/>
          </a:xfrm>
          <a:prstGeom prst="rect">
            <a:avLst/>
          </a:prstGeom>
          <a:noFill/>
          <a:ln/>
        </p:spPr>
        <p:txBody>
          <a:bodyPr wrap="square" lIns="0" tIns="0" rIns="0" bIns="0" rtlCol="0" anchor="ctr"/>
          <a:lstStyle/>
          <a:p>
            <a:pPr marL="0" indent="0">
              <a:buNone/>
            </a:pPr>
            <a:r>
              <a:rPr lang="en-US" sz="1250" b="1" kern="0" spc="250" dirty="0">
                <a:solidFill>
                  <a:srgbClr val="CADCFC"/>
                </a:solidFill>
                <a:latin typeface="Calibri" pitchFamily="34" charset="0"/>
                <a:ea typeface="Calibri" pitchFamily="34" charset="-122"/>
                <a:cs typeface="Calibri" pitchFamily="34" charset="-120"/>
              </a:rPr>
              <a:t>LIVE DEMO</a:t>
            </a:r>
            <a:endParaRPr lang="en-US" sz="1250" dirty="0"/>
          </a:p>
        </p:txBody>
      </p:sp>
      <p:sp>
        <p:nvSpPr>
          <p:cNvPr id="5" name="Text 3"/>
          <p:cNvSpPr/>
          <p:nvPr/>
        </p:nvSpPr>
        <p:spPr>
          <a:xfrm>
            <a:off x="777240" y="1097280"/>
            <a:ext cx="73152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The pipeline, running</a:t>
            </a:r>
            <a:endParaRPr lang="en-US" sz="3100" dirty="0"/>
          </a:p>
        </p:txBody>
      </p:sp>
      <p:sp>
        <p:nvSpPr>
          <p:cNvPr id="11" name="Text 9"/>
          <p:cNvSpPr/>
          <p:nvPr/>
        </p:nvSpPr>
        <p:spPr>
          <a:xfrm>
            <a:off x="8366760" y="1965960"/>
            <a:ext cx="3291840" cy="502920"/>
          </a:xfrm>
          <a:prstGeom prst="rect">
            <a:avLst/>
          </a:prstGeom>
          <a:noFill/>
          <a:ln/>
        </p:spPr>
        <p:txBody>
          <a:bodyPr wrap="square" lIns="0" tIns="0" rIns="0" bIns="0" rtlCol="0" anchor="t"/>
          <a:lstStyle/>
          <a:p>
            <a:pPr marL="0" indent="0">
              <a:buNone/>
            </a:pPr>
            <a:r>
              <a:rPr lang="en-US" sz="1650" b="1" dirty="0">
                <a:solidFill>
                  <a:srgbClr val="FFFFFF"/>
                </a:solidFill>
                <a:latin typeface="Cambria" pitchFamily="34" charset="0"/>
                <a:ea typeface="Cambria" pitchFamily="34" charset="-122"/>
                <a:cs typeface="Cambria" pitchFamily="34" charset="-120"/>
              </a:rPr>
              <a:t>What the recording walks through</a:t>
            </a:r>
            <a:endParaRPr lang="en-US" sz="1650" dirty="0"/>
          </a:p>
        </p:txBody>
      </p:sp>
      <p:sp>
        <p:nvSpPr>
          <p:cNvPr id="12" name="Shape 10"/>
          <p:cNvSpPr/>
          <p:nvPr/>
        </p:nvSpPr>
        <p:spPr>
          <a:xfrm>
            <a:off x="8366760" y="2606040"/>
            <a:ext cx="420624" cy="420624"/>
          </a:xfrm>
          <a:prstGeom prst="ellipse">
            <a:avLst/>
          </a:prstGeom>
          <a:solidFill>
            <a:srgbClr val="EB6834"/>
          </a:solidFill>
          <a:ln w="12700">
            <a:solidFill>
              <a:srgbClr val="333333"/>
            </a:solidFill>
            <a:prstDash val="solid"/>
          </a:ln>
        </p:spPr>
        <p:txBody>
          <a:bodyPr/>
          <a:lstStyle/>
          <a:p>
            <a:endParaRPr lang="en-US"/>
          </a:p>
        </p:txBody>
      </p:sp>
      <p:sp>
        <p:nvSpPr>
          <p:cNvPr id="13" name="Text 11"/>
          <p:cNvSpPr/>
          <p:nvPr/>
        </p:nvSpPr>
        <p:spPr>
          <a:xfrm>
            <a:off x="8366760" y="2606040"/>
            <a:ext cx="420624" cy="420624"/>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1</a:t>
            </a:r>
            <a:endParaRPr lang="en-US" sz="1400" dirty="0"/>
          </a:p>
        </p:txBody>
      </p:sp>
      <p:sp>
        <p:nvSpPr>
          <p:cNvPr id="14" name="Text 12"/>
          <p:cNvSpPr/>
          <p:nvPr/>
        </p:nvSpPr>
        <p:spPr>
          <a:xfrm>
            <a:off x="8887968" y="2551176"/>
            <a:ext cx="2788920" cy="685800"/>
          </a:xfrm>
          <a:prstGeom prst="rect">
            <a:avLst/>
          </a:prstGeom>
          <a:noFill/>
          <a:ln/>
        </p:spPr>
        <p:txBody>
          <a:bodyPr wrap="square" lIns="0" tIns="0" rIns="0" bIns="0"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The risk board: all 118 countries, ranked, four horizons each</a:t>
            </a:r>
            <a:endParaRPr lang="en-US" sz="1200" dirty="0"/>
          </a:p>
        </p:txBody>
      </p:sp>
      <p:sp>
        <p:nvSpPr>
          <p:cNvPr id="15" name="Shape 13"/>
          <p:cNvSpPr/>
          <p:nvPr/>
        </p:nvSpPr>
        <p:spPr>
          <a:xfrm>
            <a:off x="8366760" y="3447288"/>
            <a:ext cx="420624" cy="420624"/>
          </a:xfrm>
          <a:prstGeom prst="ellipse">
            <a:avLst/>
          </a:prstGeom>
          <a:solidFill>
            <a:srgbClr val="EB6834"/>
          </a:solidFill>
          <a:ln w="12700">
            <a:solidFill>
              <a:srgbClr val="333333"/>
            </a:solidFill>
            <a:prstDash val="solid"/>
          </a:ln>
        </p:spPr>
        <p:txBody>
          <a:bodyPr/>
          <a:lstStyle/>
          <a:p>
            <a:endParaRPr lang="en-US"/>
          </a:p>
        </p:txBody>
      </p:sp>
      <p:sp>
        <p:nvSpPr>
          <p:cNvPr id="16" name="Text 14"/>
          <p:cNvSpPr/>
          <p:nvPr/>
        </p:nvSpPr>
        <p:spPr>
          <a:xfrm>
            <a:off x="8366760" y="3447288"/>
            <a:ext cx="420624" cy="420624"/>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8887968" y="3392424"/>
            <a:ext cx="2788920" cy="685800"/>
          </a:xfrm>
          <a:prstGeom prst="rect">
            <a:avLst/>
          </a:prstGeom>
          <a:noFill/>
          <a:ln/>
        </p:spPr>
        <p:txBody>
          <a:bodyPr wrap="square" lIns="0" tIns="0" rIns="0" bIns="0"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A single country's history with its spike weeks marked</a:t>
            </a:r>
            <a:endParaRPr lang="en-US" sz="1200" dirty="0"/>
          </a:p>
        </p:txBody>
      </p:sp>
      <p:sp>
        <p:nvSpPr>
          <p:cNvPr id="18" name="Shape 16"/>
          <p:cNvSpPr/>
          <p:nvPr/>
        </p:nvSpPr>
        <p:spPr>
          <a:xfrm>
            <a:off x="8366760" y="4288536"/>
            <a:ext cx="420624" cy="420624"/>
          </a:xfrm>
          <a:prstGeom prst="ellipse">
            <a:avLst/>
          </a:prstGeom>
          <a:solidFill>
            <a:srgbClr val="EB6834"/>
          </a:solidFill>
          <a:ln w="12700">
            <a:solidFill>
              <a:srgbClr val="333333"/>
            </a:solidFill>
            <a:prstDash val="solid"/>
          </a:ln>
        </p:spPr>
        <p:txBody>
          <a:bodyPr/>
          <a:lstStyle/>
          <a:p>
            <a:endParaRPr lang="en-US"/>
          </a:p>
        </p:txBody>
      </p:sp>
      <p:sp>
        <p:nvSpPr>
          <p:cNvPr id="19" name="Text 17"/>
          <p:cNvSpPr/>
          <p:nvPr/>
        </p:nvSpPr>
        <p:spPr>
          <a:xfrm>
            <a:off x="8366760" y="4288536"/>
            <a:ext cx="420624" cy="420624"/>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887968" y="4233672"/>
            <a:ext cx="2788920" cy="685800"/>
          </a:xfrm>
          <a:prstGeom prst="rect">
            <a:avLst/>
          </a:prstGeom>
          <a:noFill/>
          <a:ln/>
        </p:spPr>
        <p:txBody>
          <a:bodyPr wrap="square" lIns="0" tIns="0" rIns="0" bIns="0"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The evaluation page: PR-AUC, calibration, feature importances</a:t>
            </a:r>
            <a:endParaRPr lang="en-US" sz="1200" dirty="0"/>
          </a:p>
        </p:txBody>
      </p:sp>
      <p:sp>
        <p:nvSpPr>
          <p:cNvPr id="21" name="Shape 19"/>
          <p:cNvSpPr/>
          <p:nvPr/>
        </p:nvSpPr>
        <p:spPr>
          <a:xfrm>
            <a:off x="8366760" y="5129784"/>
            <a:ext cx="420624" cy="420624"/>
          </a:xfrm>
          <a:prstGeom prst="ellipse">
            <a:avLst/>
          </a:prstGeom>
          <a:solidFill>
            <a:srgbClr val="EB6834"/>
          </a:solidFill>
          <a:ln w="12700">
            <a:solidFill>
              <a:srgbClr val="333333"/>
            </a:solidFill>
            <a:prstDash val="solid"/>
          </a:ln>
        </p:spPr>
        <p:txBody>
          <a:bodyPr/>
          <a:lstStyle/>
          <a:p>
            <a:endParaRPr lang="en-US"/>
          </a:p>
        </p:txBody>
      </p:sp>
      <p:sp>
        <p:nvSpPr>
          <p:cNvPr id="22" name="Text 20"/>
          <p:cNvSpPr/>
          <p:nvPr/>
        </p:nvSpPr>
        <p:spPr>
          <a:xfrm>
            <a:off x="8366760" y="5129784"/>
            <a:ext cx="420624" cy="420624"/>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8887968" y="5074920"/>
            <a:ext cx="2788920" cy="685800"/>
          </a:xfrm>
          <a:prstGeom prst="rect">
            <a:avLst/>
          </a:prstGeom>
          <a:noFill/>
          <a:ln/>
        </p:spPr>
        <p:txBody>
          <a:bodyPr wrap="square" lIns="0" tIns="0" rIns="0" bIns="0"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Hitting refresh: download, rebuild, retrain, rescore, live in the console</a:t>
            </a:r>
            <a:endParaRPr lang="en-US" sz="1200" dirty="0"/>
          </a:p>
        </p:txBody>
      </p:sp>
      <p:pic>
        <p:nvPicPr>
          <p:cNvPr id="24" name="GDELT_webapp_demo">
            <a:hlinkClick r:id="" action="ppaction://media"/>
            <a:extLst>
              <a:ext uri="{FF2B5EF4-FFF2-40B4-BE49-F238E27FC236}">
                <a16:creationId xmlns:a16="http://schemas.microsoft.com/office/drawing/2014/main" id="{C8D78219-F291-4160-917D-8F1CF215502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33400" y="1773936"/>
            <a:ext cx="7640320" cy="42976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9500"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4"/>
                </p:tgtEl>
              </p:cMediaNode>
            </p:video>
            <p:seq concurrent="1" nextAc="seek">
              <p:cTn id="8" restart="whenNotActive" fill="hold" evtFilter="cancelBubble" nodeType="interactiveSeq">
                <p:stCondLst>
                  <p:cond evt="onClick" delay="0">
                    <p:tgtEl>
                      <p:spTgt spid="2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4"/>
                                        </p:tgtEl>
                                      </p:cBhvr>
                                    </p:cmd>
                                  </p:childTnLst>
                                </p:cTn>
                              </p:par>
                            </p:childTnLst>
                          </p:cTn>
                        </p:par>
                      </p:childTnLst>
                    </p:cTn>
                  </p:par>
                </p:childTnLst>
              </p:cTn>
              <p:nextCondLst>
                <p:cond evt="onClick" delay="0">
                  <p:tgtEl>
                    <p:spTgt spid="24"/>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WHAT THE DEMO SHOWS</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The output: every country, scored every week</a:t>
            </a:r>
            <a:endParaRPr lang="en-US" sz="3300" dirty="0"/>
          </a:p>
        </p:txBody>
      </p:sp>
      <p:pic>
        <p:nvPicPr>
          <p:cNvPr id="5" name="Image 0" descr="/home/claude/figs/fig10_risk_board.png"/>
          <p:cNvPicPr>
            <a:picLocks noChangeAspect="1"/>
          </p:cNvPicPr>
          <p:nvPr/>
        </p:nvPicPr>
        <p:blipFill>
          <a:blip r:embed="rId3"/>
          <a:stretch>
            <a:fillRect/>
          </a:stretch>
        </p:blipFill>
        <p:spPr>
          <a:xfrm>
            <a:off x="566928" y="1783080"/>
            <a:ext cx="6766560" cy="4194591"/>
          </a:xfrm>
          <a:prstGeom prst="rect">
            <a:avLst/>
          </a:prstGeom>
        </p:spPr>
      </p:pic>
      <p:sp>
        <p:nvSpPr>
          <p:cNvPr id="6" name="Shape 3"/>
          <p:cNvSpPr/>
          <p:nvPr/>
        </p:nvSpPr>
        <p:spPr>
          <a:xfrm>
            <a:off x="7635240" y="1737360"/>
            <a:ext cx="4023360" cy="4114800"/>
          </a:xfrm>
          <a:prstGeom prst="roundRect">
            <a:avLst>
              <a:gd name="adj" fmla="val 250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7" name="Text 4"/>
          <p:cNvSpPr/>
          <p:nvPr/>
        </p:nvSpPr>
        <p:spPr>
          <a:xfrm>
            <a:off x="7927848" y="2011680"/>
            <a:ext cx="3438144" cy="685800"/>
          </a:xfrm>
          <a:prstGeom prst="rect">
            <a:avLst/>
          </a:prstGeom>
          <a:noFill/>
          <a:ln/>
        </p:spPr>
        <p:txBody>
          <a:bodyPr wrap="square" lIns="0" tIns="0" rIns="0" bIns="0" rtlCol="0" anchor="t"/>
          <a:lstStyle/>
          <a:p>
            <a:pPr marL="0" indent="0">
              <a:buNone/>
            </a:pPr>
            <a:r>
              <a:rPr lang="en-US" sz="1900" b="1" dirty="0">
                <a:solidFill>
                  <a:srgbClr val="0B2545"/>
                </a:solidFill>
                <a:latin typeface="Cambria" pitchFamily="34" charset="0"/>
                <a:ea typeface="Cambria" pitchFamily="34" charset="-122"/>
                <a:cs typeface="Cambria" pitchFamily="34" charset="-120"/>
              </a:rPr>
              <a:t>As of the week of 20 July 2026</a:t>
            </a:r>
            <a:endParaRPr lang="en-US" sz="1900" dirty="0"/>
          </a:p>
        </p:txBody>
      </p:sp>
      <p:sp>
        <p:nvSpPr>
          <p:cNvPr id="8" name="Text 5"/>
          <p:cNvSpPr/>
          <p:nvPr/>
        </p:nvSpPr>
        <p:spPr>
          <a:xfrm>
            <a:off x="7927848" y="2761488"/>
            <a:ext cx="3438144" cy="278892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Highest one-week risk: Djibouti at 0.69, then South Sudan at 0.33 and Laos at 0.31.</a:t>
            </a:r>
            <a:endParaRPr lang="en-US" sz="1350" dirty="0"/>
          </a:p>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Djibouti is instructive and a bit deflating. It was already spiking, so the model largely re-expressed the present.</a:t>
            </a:r>
            <a:endParaRPr lang="en-US" sz="1350" dirty="0"/>
          </a:p>
          <a:p>
            <a:pPr marL="342900" indent="-342900">
              <a:lnSpc>
                <a:spcPts val="1900"/>
              </a:lnSpc>
              <a:spcAft>
                <a:spcPts val="1000"/>
              </a:spcAft>
              <a:buSzPct val="100000"/>
              <a:buChar char="•"/>
            </a:pPr>
            <a:r>
              <a:rPr lang="en-US" sz="1350" dirty="0">
                <a:solidFill>
                  <a:srgbClr val="16202B"/>
                </a:solidFill>
                <a:latin typeface="Calibri" pitchFamily="34" charset="0"/>
                <a:ea typeface="Calibri" pitchFamily="34" charset="-122"/>
                <a:cs typeface="Calibri" pitchFamily="34" charset="-120"/>
              </a:rPr>
              <a:t>That overlap with the rule of thumb is strongest at the one-week horizon, which is exactly what the feature importances predicted.</a:t>
            </a:r>
            <a:endParaRPr lang="en-US" sz="1350" dirty="0"/>
          </a:p>
        </p:txBody>
      </p:sp>
      <p:sp>
        <p:nvSpPr>
          <p:cNvPr id="9" name="Text 6"/>
          <p:cNvSpPr/>
          <p:nvPr/>
        </p:nvSpPr>
        <p:spPr>
          <a:xfrm>
            <a:off x="566928" y="6053328"/>
            <a:ext cx="11064240" cy="411480"/>
          </a:xfrm>
          <a:prstGeom prst="rect">
            <a:avLst/>
          </a:prstGeom>
          <a:noFill/>
          <a:ln/>
        </p:spPr>
        <p:txBody>
          <a:bodyPr wrap="square" lIns="0" tIns="0" rIns="0" bIns="0" rtlCol="0" anchor="ctr"/>
          <a:lstStyle/>
          <a:p>
            <a:pPr marL="0" indent="0">
              <a:buNone/>
            </a:pPr>
            <a:r>
              <a:rPr lang="en-US" sz="1200" i="1" dirty="0">
                <a:solidFill>
                  <a:srgbClr val="5D6B7A"/>
                </a:solidFill>
                <a:latin typeface="Calibri" pitchFamily="34" charset="0"/>
                <a:ea typeface="Calibri" pitchFamily="34" charset="-122"/>
                <a:cs typeface="Calibri" pitchFamily="34" charset="-120"/>
              </a:rPr>
              <a:t>Every country is rescored whenever the pipeline refreshes; the board below is what the web application renders.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WHAT IT CAN AND CANNOT DO</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The same result, translated into alerts</a:t>
            </a:r>
            <a:endParaRPr lang="en-US" sz="3300" dirty="0"/>
          </a:p>
        </p:txBody>
      </p:sp>
      <p:sp>
        <p:nvSpPr>
          <p:cNvPr id="5" name="Text 3"/>
          <p:cNvSpPr/>
          <p:nvPr/>
        </p:nvSpPr>
        <p:spPr>
          <a:xfrm>
            <a:off x="566928" y="1737360"/>
            <a:ext cx="11064240" cy="411480"/>
          </a:xfrm>
          <a:prstGeom prst="rect">
            <a:avLst/>
          </a:prstGeom>
          <a:noFill/>
          <a:ln/>
        </p:spPr>
        <p:txBody>
          <a:bodyPr wrap="square" lIns="0" tIns="0" rIns="0" bIns="0" rtlCol="0" anchor="ctr"/>
          <a:lstStyle/>
          <a:p>
            <a:pPr marL="0" indent="0">
              <a:buNone/>
            </a:pPr>
            <a:r>
              <a:rPr lang="en-US" sz="1450" dirty="0">
                <a:solidFill>
                  <a:srgbClr val="16202B"/>
                </a:solidFill>
                <a:latin typeface="Calibri" pitchFamily="34" charset="0"/>
                <a:ea typeface="Calibri" pitchFamily="34" charset="-122"/>
                <a:cs typeface="Calibri" pitchFamily="34" charset="-120"/>
              </a:rPr>
              <a:t>Over the 33 test weeks, at an alert budget of one false alarm per ten quiet country-weeks:</a:t>
            </a:r>
            <a:endParaRPr lang="en-US" sz="1450" dirty="0"/>
          </a:p>
        </p:txBody>
      </p:sp>
      <p:sp>
        <p:nvSpPr>
          <p:cNvPr id="6" name="Shape 4"/>
          <p:cNvSpPr/>
          <p:nvPr/>
        </p:nvSpPr>
        <p:spPr>
          <a:xfrm>
            <a:off x="566928" y="2240280"/>
            <a:ext cx="2560320" cy="1481328"/>
          </a:xfrm>
          <a:prstGeom prst="roundRect">
            <a:avLst>
              <a:gd name="adj" fmla="val 679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7" name="Text 5"/>
          <p:cNvSpPr/>
          <p:nvPr/>
        </p:nvSpPr>
        <p:spPr>
          <a:xfrm>
            <a:off x="585216" y="2386584"/>
            <a:ext cx="2523744" cy="713232"/>
          </a:xfrm>
          <a:prstGeom prst="rect">
            <a:avLst/>
          </a:prstGeom>
          <a:noFill/>
          <a:ln/>
        </p:spPr>
        <p:txBody>
          <a:bodyPr wrap="square" lIns="0" tIns="0" rIns="0" bIns="0" rtlCol="0" anchor="ctr"/>
          <a:lstStyle/>
          <a:p>
            <a:pPr marL="0" indent="0" algn="ctr">
              <a:buNone/>
            </a:pPr>
            <a:r>
              <a:rPr lang="en-US" sz="4000" b="1" dirty="0">
                <a:solidFill>
                  <a:srgbClr val="0B2545"/>
                </a:solidFill>
                <a:latin typeface="Cambria" pitchFamily="34" charset="0"/>
                <a:ea typeface="Cambria" pitchFamily="34" charset="-122"/>
                <a:cs typeface="Cambria" pitchFamily="34" charset="-120"/>
              </a:rPr>
              <a:t>442</a:t>
            </a:r>
            <a:endParaRPr lang="en-US" sz="4000" dirty="0"/>
          </a:p>
        </p:txBody>
      </p:sp>
      <p:sp>
        <p:nvSpPr>
          <p:cNvPr id="8" name="Text 6"/>
          <p:cNvSpPr/>
          <p:nvPr/>
        </p:nvSpPr>
        <p:spPr>
          <a:xfrm>
            <a:off x="731520" y="3108960"/>
            <a:ext cx="2231136" cy="502920"/>
          </a:xfrm>
          <a:prstGeom prst="rect">
            <a:avLst/>
          </a:prstGeom>
          <a:noFill/>
          <a:ln/>
        </p:spPr>
        <p:txBody>
          <a:bodyPr wrap="square" lIns="0" tIns="0" rIns="0" bIns="0" rtlCol="0" anchor="t"/>
          <a:lstStyle/>
          <a:p>
            <a:pPr marL="0" indent="0" algn="ctr">
              <a:buNone/>
            </a:pPr>
            <a:r>
              <a:rPr lang="en-US" sz="1200" dirty="0">
                <a:solidFill>
                  <a:srgbClr val="5D6B7A"/>
                </a:solidFill>
                <a:latin typeface="Calibri" pitchFamily="34" charset="0"/>
                <a:ea typeface="Calibri" pitchFamily="34" charset="-122"/>
                <a:cs typeface="Calibri" pitchFamily="34" charset="-120"/>
              </a:rPr>
              <a:t>alerts raised</a:t>
            </a:r>
            <a:endParaRPr lang="en-US" sz="1200" dirty="0"/>
          </a:p>
        </p:txBody>
      </p:sp>
      <p:sp>
        <p:nvSpPr>
          <p:cNvPr id="9" name="Shape 7"/>
          <p:cNvSpPr/>
          <p:nvPr/>
        </p:nvSpPr>
        <p:spPr>
          <a:xfrm>
            <a:off x="3401568" y="2240280"/>
            <a:ext cx="2560320" cy="1481328"/>
          </a:xfrm>
          <a:prstGeom prst="roundRect">
            <a:avLst>
              <a:gd name="adj" fmla="val 679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0" name="Text 8"/>
          <p:cNvSpPr/>
          <p:nvPr/>
        </p:nvSpPr>
        <p:spPr>
          <a:xfrm>
            <a:off x="3419856" y="2386584"/>
            <a:ext cx="2523744" cy="713232"/>
          </a:xfrm>
          <a:prstGeom prst="rect">
            <a:avLst/>
          </a:prstGeom>
          <a:noFill/>
          <a:ln/>
        </p:spPr>
        <p:txBody>
          <a:bodyPr wrap="square" lIns="0" tIns="0" rIns="0" bIns="0" rtlCol="0" anchor="ctr"/>
          <a:lstStyle/>
          <a:p>
            <a:pPr marL="0" indent="0" algn="ctr">
              <a:buNone/>
            </a:pPr>
            <a:r>
              <a:rPr lang="en-US" sz="4000" b="1" dirty="0">
                <a:solidFill>
                  <a:srgbClr val="0B2545"/>
                </a:solidFill>
                <a:latin typeface="Cambria" pitchFamily="34" charset="0"/>
                <a:ea typeface="Cambria" pitchFamily="34" charset="-122"/>
                <a:cs typeface="Cambria" pitchFamily="34" charset="-120"/>
              </a:rPr>
              <a:t>87</a:t>
            </a:r>
            <a:endParaRPr lang="en-US" sz="4000" dirty="0"/>
          </a:p>
        </p:txBody>
      </p:sp>
      <p:sp>
        <p:nvSpPr>
          <p:cNvPr id="11" name="Text 9"/>
          <p:cNvSpPr/>
          <p:nvPr/>
        </p:nvSpPr>
        <p:spPr>
          <a:xfrm>
            <a:off x="3566160" y="3108960"/>
            <a:ext cx="2231136" cy="502920"/>
          </a:xfrm>
          <a:prstGeom prst="rect">
            <a:avLst/>
          </a:prstGeom>
          <a:noFill/>
          <a:ln/>
        </p:spPr>
        <p:txBody>
          <a:bodyPr wrap="square" lIns="0" tIns="0" rIns="0" bIns="0" rtlCol="0" anchor="t"/>
          <a:lstStyle/>
          <a:p>
            <a:pPr marL="0" indent="0" algn="ctr">
              <a:buNone/>
            </a:pPr>
            <a:r>
              <a:rPr lang="en-US" sz="1200" dirty="0">
                <a:solidFill>
                  <a:srgbClr val="5D6B7A"/>
                </a:solidFill>
                <a:latin typeface="Calibri" pitchFamily="34" charset="0"/>
                <a:ea typeface="Calibri" pitchFamily="34" charset="-122"/>
                <a:cs typeface="Calibri" pitchFamily="34" charset="-120"/>
              </a:rPr>
              <a:t>were real spikes</a:t>
            </a:r>
            <a:endParaRPr lang="en-US" sz="1200" dirty="0"/>
          </a:p>
        </p:txBody>
      </p:sp>
      <p:sp>
        <p:nvSpPr>
          <p:cNvPr id="12" name="Shape 10"/>
          <p:cNvSpPr/>
          <p:nvPr/>
        </p:nvSpPr>
        <p:spPr>
          <a:xfrm>
            <a:off x="6236208" y="2240280"/>
            <a:ext cx="2560320" cy="1481328"/>
          </a:xfrm>
          <a:prstGeom prst="roundRect">
            <a:avLst>
              <a:gd name="adj" fmla="val 679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3" name="Text 11"/>
          <p:cNvSpPr/>
          <p:nvPr/>
        </p:nvSpPr>
        <p:spPr>
          <a:xfrm>
            <a:off x="6254496" y="2386584"/>
            <a:ext cx="2523744" cy="713232"/>
          </a:xfrm>
          <a:prstGeom prst="rect">
            <a:avLst/>
          </a:prstGeom>
          <a:noFill/>
          <a:ln/>
        </p:spPr>
        <p:txBody>
          <a:bodyPr wrap="square" lIns="0" tIns="0" rIns="0" bIns="0" rtlCol="0" anchor="ctr"/>
          <a:lstStyle/>
          <a:p>
            <a:pPr marL="0" indent="0" algn="ctr">
              <a:buNone/>
            </a:pPr>
            <a:r>
              <a:rPr lang="en-US" sz="4000" b="1" dirty="0">
                <a:solidFill>
                  <a:srgbClr val="0B2545"/>
                </a:solidFill>
                <a:latin typeface="Cambria" pitchFamily="34" charset="0"/>
                <a:ea typeface="Cambria" pitchFamily="34" charset="-122"/>
                <a:cs typeface="Cambria" pitchFamily="34" charset="-120"/>
              </a:rPr>
              <a:t>349</a:t>
            </a:r>
            <a:endParaRPr lang="en-US" sz="4000" dirty="0"/>
          </a:p>
        </p:txBody>
      </p:sp>
      <p:sp>
        <p:nvSpPr>
          <p:cNvPr id="14" name="Text 12"/>
          <p:cNvSpPr/>
          <p:nvPr/>
        </p:nvSpPr>
        <p:spPr>
          <a:xfrm>
            <a:off x="6400800" y="3108960"/>
            <a:ext cx="2231136" cy="502920"/>
          </a:xfrm>
          <a:prstGeom prst="rect">
            <a:avLst/>
          </a:prstGeom>
          <a:noFill/>
          <a:ln/>
        </p:spPr>
        <p:txBody>
          <a:bodyPr wrap="square" lIns="0" tIns="0" rIns="0" bIns="0" rtlCol="0" anchor="t"/>
          <a:lstStyle/>
          <a:p>
            <a:pPr marL="0" indent="0" algn="ctr">
              <a:buNone/>
            </a:pPr>
            <a:r>
              <a:rPr lang="en-US" sz="1200" dirty="0">
                <a:solidFill>
                  <a:srgbClr val="5D6B7A"/>
                </a:solidFill>
                <a:latin typeface="Calibri" pitchFamily="34" charset="0"/>
                <a:ea typeface="Calibri" pitchFamily="34" charset="-122"/>
                <a:cs typeface="Calibri" pitchFamily="34" charset="-120"/>
              </a:rPr>
              <a:t>spikes actually happened</a:t>
            </a:r>
            <a:endParaRPr lang="en-US" sz="1200" dirty="0"/>
          </a:p>
        </p:txBody>
      </p:sp>
      <p:sp>
        <p:nvSpPr>
          <p:cNvPr id="15" name="Shape 13"/>
          <p:cNvSpPr/>
          <p:nvPr/>
        </p:nvSpPr>
        <p:spPr>
          <a:xfrm>
            <a:off x="9070848" y="2240280"/>
            <a:ext cx="2560320" cy="1481328"/>
          </a:xfrm>
          <a:prstGeom prst="roundRect">
            <a:avLst>
              <a:gd name="adj" fmla="val 679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6" name="Text 14"/>
          <p:cNvSpPr/>
          <p:nvPr/>
        </p:nvSpPr>
        <p:spPr>
          <a:xfrm>
            <a:off x="9089136" y="2386584"/>
            <a:ext cx="2523744" cy="713232"/>
          </a:xfrm>
          <a:prstGeom prst="rect">
            <a:avLst/>
          </a:prstGeom>
          <a:noFill/>
          <a:ln/>
        </p:spPr>
        <p:txBody>
          <a:bodyPr wrap="square" lIns="0" tIns="0" rIns="0" bIns="0" rtlCol="0" anchor="ctr"/>
          <a:lstStyle/>
          <a:p>
            <a:pPr marL="0" indent="0" algn="ctr">
              <a:buNone/>
            </a:pPr>
            <a:r>
              <a:rPr lang="en-US" sz="4000" b="1" dirty="0">
                <a:solidFill>
                  <a:srgbClr val="EB6834"/>
                </a:solidFill>
                <a:latin typeface="Cambria" pitchFamily="34" charset="0"/>
                <a:ea typeface="Cambria" pitchFamily="34" charset="-122"/>
                <a:cs typeface="Cambria" pitchFamily="34" charset="-120"/>
              </a:rPr>
              <a:t>1 in 5</a:t>
            </a:r>
            <a:endParaRPr lang="en-US" sz="4000" dirty="0"/>
          </a:p>
        </p:txBody>
      </p:sp>
      <p:sp>
        <p:nvSpPr>
          <p:cNvPr id="17" name="Text 15"/>
          <p:cNvSpPr/>
          <p:nvPr/>
        </p:nvSpPr>
        <p:spPr>
          <a:xfrm>
            <a:off x="9235440" y="3108960"/>
            <a:ext cx="2231136" cy="502920"/>
          </a:xfrm>
          <a:prstGeom prst="rect">
            <a:avLst/>
          </a:prstGeom>
          <a:noFill/>
          <a:ln/>
        </p:spPr>
        <p:txBody>
          <a:bodyPr wrap="square" lIns="0" tIns="0" rIns="0" bIns="0" rtlCol="0" anchor="t"/>
          <a:lstStyle/>
          <a:p>
            <a:pPr marL="0" indent="0" algn="ctr">
              <a:buNone/>
            </a:pPr>
            <a:r>
              <a:rPr lang="en-US" sz="1200" dirty="0">
                <a:solidFill>
                  <a:srgbClr val="5D6B7A"/>
                </a:solidFill>
                <a:latin typeface="Calibri" pitchFamily="34" charset="0"/>
                <a:ea typeface="Calibri" pitchFamily="34" charset="-122"/>
                <a:cs typeface="Calibri" pitchFamily="34" charset="-120"/>
              </a:rPr>
              <a:t>alerts were right</a:t>
            </a:r>
            <a:endParaRPr lang="en-US" sz="1200" dirty="0"/>
          </a:p>
        </p:txBody>
      </p:sp>
      <p:sp>
        <p:nvSpPr>
          <p:cNvPr id="18" name="Shape 16"/>
          <p:cNvSpPr/>
          <p:nvPr/>
        </p:nvSpPr>
        <p:spPr>
          <a:xfrm>
            <a:off x="566928" y="4069080"/>
            <a:ext cx="5349240" cy="1783080"/>
          </a:xfrm>
          <a:prstGeom prst="roundRect">
            <a:avLst>
              <a:gd name="adj" fmla="val 5641"/>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9" name="Text 17"/>
          <p:cNvSpPr/>
          <p:nvPr/>
        </p:nvSpPr>
        <p:spPr>
          <a:xfrm>
            <a:off x="868680" y="4279392"/>
            <a:ext cx="4846320" cy="411480"/>
          </a:xfrm>
          <a:prstGeom prst="rect">
            <a:avLst/>
          </a:prstGeom>
          <a:noFill/>
          <a:ln/>
        </p:spPr>
        <p:txBody>
          <a:bodyPr wrap="square" lIns="0" tIns="0" rIns="0" bIns="0" rtlCol="0" anchor="ctr"/>
          <a:lstStyle/>
          <a:p>
            <a:pPr marL="0" indent="0">
              <a:buNone/>
            </a:pPr>
            <a:r>
              <a:rPr lang="en-US" sz="1700" b="1" dirty="0">
                <a:solidFill>
                  <a:srgbClr val="0B2545"/>
                </a:solidFill>
                <a:latin typeface="Cambria" pitchFamily="34" charset="0"/>
                <a:ea typeface="Cambria" pitchFamily="34" charset="-122"/>
                <a:cs typeface="Cambria" pitchFamily="34" charset="-120"/>
              </a:rPr>
              <a:t>Good for</a:t>
            </a:r>
            <a:endParaRPr lang="en-US" sz="1700" dirty="0"/>
          </a:p>
        </p:txBody>
      </p:sp>
      <p:sp>
        <p:nvSpPr>
          <p:cNvPr id="20" name="Text 18"/>
          <p:cNvSpPr/>
          <p:nvPr/>
        </p:nvSpPr>
        <p:spPr>
          <a:xfrm>
            <a:off x="868680" y="4709160"/>
            <a:ext cx="4846320" cy="1005840"/>
          </a:xfrm>
          <a:prstGeom prst="rect">
            <a:avLst/>
          </a:prstGeom>
          <a:noFill/>
          <a:ln/>
        </p:spPr>
        <p:txBody>
          <a:bodyPr wrap="square" lIns="0" tIns="0" rIns="0" bIns="0" rtlCol="0" anchor="t"/>
          <a:lstStyle/>
          <a:p>
            <a:pPr marL="0" indent="0">
              <a:lnSpc>
                <a:spcPts val="1900"/>
              </a:lnSpc>
              <a:buNone/>
            </a:pPr>
            <a:r>
              <a:rPr lang="en-US" sz="1300" dirty="0">
                <a:solidFill>
                  <a:srgbClr val="16202B"/>
                </a:solidFill>
                <a:latin typeface="Calibri" pitchFamily="34" charset="0"/>
                <a:ea typeface="Calibri" pitchFamily="34" charset="-122"/>
                <a:cs typeface="Calibri" pitchFamily="34" charset="-120"/>
              </a:rPr>
              <a:t>Reordering a watchlist a human will read anyway. One in five beats the one in eleven you get reading countries in arbitrary order, and the scores are calibrated, so you know where to stop.</a:t>
            </a:r>
            <a:endParaRPr lang="en-US" sz="1300" dirty="0"/>
          </a:p>
        </p:txBody>
      </p:sp>
      <p:sp>
        <p:nvSpPr>
          <p:cNvPr id="21" name="Shape 19"/>
          <p:cNvSpPr/>
          <p:nvPr/>
        </p:nvSpPr>
        <p:spPr>
          <a:xfrm>
            <a:off x="6281928" y="4069080"/>
            <a:ext cx="5349240" cy="1783080"/>
          </a:xfrm>
          <a:prstGeom prst="roundRect">
            <a:avLst>
              <a:gd name="adj" fmla="val 5641"/>
            </a:avLst>
          </a:prstGeom>
          <a:solidFill>
            <a:srgbClr val="0B2545"/>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22" name="Text 20"/>
          <p:cNvSpPr/>
          <p:nvPr/>
        </p:nvSpPr>
        <p:spPr>
          <a:xfrm>
            <a:off x="6583680" y="4279392"/>
            <a:ext cx="4754880" cy="41148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Not good for</a:t>
            </a:r>
            <a:endParaRPr lang="en-US" sz="1700" dirty="0"/>
          </a:p>
        </p:txBody>
      </p:sp>
      <p:sp>
        <p:nvSpPr>
          <p:cNvPr id="23" name="Text 21"/>
          <p:cNvSpPr/>
          <p:nvPr/>
        </p:nvSpPr>
        <p:spPr>
          <a:xfrm>
            <a:off x="6583680" y="4709160"/>
            <a:ext cx="4754880" cy="1005840"/>
          </a:xfrm>
          <a:prstGeom prst="rect">
            <a:avLst/>
          </a:prstGeom>
          <a:noFill/>
          <a:ln/>
        </p:spPr>
        <p:txBody>
          <a:bodyPr wrap="square" lIns="0" tIns="0" rIns="0" bIns="0" rtlCol="0" anchor="t"/>
          <a:lstStyle/>
          <a:p>
            <a:pPr marL="0" indent="0">
              <a:lnSpc>
                <a:spcPts val="1900"/>
              </a:lnSpc>
              <a:buNone/>
            </a:pPr>
            <a:r>
              <a:rPr lang="en-US" sz="1300" dirty="0">
                <a:solidFill>
                  <a:srgbClr val="CADCFC"/>
                </a:solidFill>
                <a:latin typeface="Calibri" pitchFamily="34" charset="0"/>
                <a:ea typeface="Calibri" pitchFamily="34" charset="-122"/>
                <a:cs typeface="Calibri" pitchFamily="34" charset="-120"/>
              </a:rPr>
              <a:t>Anything automatic with a cost attached. Four alerts in five are wrong, so this must never trigger a decision on its own. It is a triage aid, not an alarm.</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WHERE IT FALLS SHORT</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Three things worth stating plainly</a:t>
            </a:r>
            <a:endParaRPr lang="en-US" sz="3300" dirty="0"/>
          </a:p>
        </p:txBody>
      </p:sp>
      <p:pic>
        <p:nvPicPr>
          <p:cNvPr id="5" name="Image 0" descr="/home/claude/figs/fig9_country_spread.png"/>
          <p:cNvPicPr>
            <a:picLocks noChangeAspect="1"/>
          </p:cNvPicPr>
          <p:nvPr/>
        </p:nvPicPr>
        <p:blipFill>
          <a:blip r:embed="rId3"/>
          <a:stretch>
            <a:fillRect/>
          </a:stretch>
        </p:blipFill>
        <p:spPr>
          <a:xfrm>
            <a:off x="566928" y="1783080"/>
            <a:ext cx="6309360" cy="3725677"/>
          </a:xfrm>
          <a:prstGeom prst="rect">
            <a:avLst/>
          </a:prstGeom>
        </p:spPr>
      </p:pic>
      <p:sp>
        <p:nvSpPr>
          <p:cNvPr id="6" name="Shape 3"/>
          <p:cNvSpPr/>
          <p:nvPr/>
        </p:nvSpPr>
        <p:spPr>
          <a:xfrm>
            <a:off x="7178040" y="1737360"/>
            <a:ext cx="4453128" cy="1152144"/>
          </a:xfrm>
          <a:prstGeom prst="roundRect">
            <a:avLst>
              <a:gd name="adj" fmla="val 8730"/>
            </a:avLst>
          </a:prstGeom>
          <a:solidFill>
            <a:srgbClr val="0B2545"/>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7" name="Text 4"/>
          <p:cNvSpPr/>
          <p:nvPr/>
        </p:nvSpPr>
        <p:spPr>
          <a:xfrm>
            <a:off x="7452360" y="1828800"/>
            <a:ext cx="3904488" cy="384048"/>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It measures coverage, not violence</a:t>
            </a:r>
            <a:endParaRPr lang="en-US" sz="1450" dirty="0"/>
          </a:p>
        </p:txBody>
      </p:sp>
      <p:sp>
        <p:nvSpPr>
          <p:cNvPr id="8" name="Text 5"/>
          <p:cNvSpPr/>
          <p:nvPr/>
        </p:nvSpPr>
        <p:spPr>
          <a:xfrm>
            <a:off x="7452360" y="2194560"/>
            <a:ext cx="3904488" cy="640080"/>
          </a:xfrm>
          <a:prstGeom prst="rect">
            <a:avLst/>
          </a:prstGeom>
          <a:noFill/>
          <a:ln/>
        </p:spPr>
        <p:txBody>
          <a:bodyPr wrap="square" lIns="0" tIns="0" rIns="0" bIns="0" rtlCol="0" anchor="t"/>
          <a:lstStyle/>
          <a:p>
            <a:pPr marL="0" indent="0">
              <a:lnSpc>
                <a:spcPts val="1500"/>
              </a:lnSpc>
              <a:buNone/>
            </a:pPr>
            <a:r>
              <a:rPr lang="en-US" sz="1100" dirty="0">
                <a:solidFill>
                  <a:srgbClr val="CADCFC"/>
                </a:solidFill>
                <a:latin typeface="Calibri" pitchFamily="34" charset="0"/>
                <a:ea typeface="Calibri" pitchFamily="34" charset="-122"/>
                <a:cs typeface="Calibri" pitchFamily="34" charset="-120"/>
              </a:rPr>
              <a:t>A spike in coded events can be a spike in attention. No human-coded conflict dataset was used for validation, which is the first thing to fix.</a:t>
            </a:r>
            <a:endParaRPr lang="en-US" sz="1100" dirty="0"/>
          </a:p>
        </p:txBody>
      </p:sp>
      <p:sp>
        <p:nvSpPr>
          <p:cNvPr id="9" name="Shape 6"/>
          <p:cNvSpPr/>
          <p:nvPr/>
        </p:nvSpPr>
        <p:spPr>
          <a:xfrm>
            <a:off x="7178040" y="3163824"/>
            <a:ext cx="4453128" cy="1152144"/>
          </a:xfrm>
          <a:prstGeom prst="roundRect">
            <a:avLst>
              <a:gd name="adj" fmla="val 873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0" name="Text 7"/>
          <p:cNvSpPr/>
          <p:nvPr/>
        </p:nvSpPr>
        <p:spPr>
          <a:xfrm>
            <a:off x="7452360" y="3255264"/>
            <a:ext cx="3904488" cy="384048"/>
          </a:xfrm>
          <a:prstGeom prst="rect">
            <a:avLst/>
          </a:prstGeom>
          <a:noFill/>
          <a:ln/>
        </p:spPr>
        <p:txBody>
          <a:bodyPr wrap="square" lIns="0" tIns="0" rIns="0" bIns="0" rtlCol="0" anchor="ctr"/>
          <a:lstStyle/>
          <a:p>
            <a:pPr marL="0" indent="0">
              <a:buNone/>
            </a:pPr>
            <a:r>
              <a:rPr lang="en-US" sz="1450" b="1" dirty="0">
                <a:solidFill>
                  <a:srgbClr val="0B2545"/>
                </a:solidFill>
                <a:latin typeface="Cambria" pitchFamily="34" charset="0"/>
                <a:ea typeface="Cambria" pitchFamily="34" charset="-122"/>
                <a:cs typeface="Cambria" pitchFamily="34" charset="-120"/>
              </a:rPr>
              <a:t>The average describes nobody</a:t>
            </a:r>
            <a:endParaRPr lang="en-US" sz="1450" dirty="0"/>
          </a:p>
        </p:txBody>
      </p:sp>
      <p:sp>
        <p:nvSpPr>
          <p:cNvPr id="11" name="Text 8"/>
          <p:cNvSpPr/>
          <p:nvPr/>
        </p:nvSpPr>
        <p:spPr>
          <a:xfrm>
            <a:off x="7452360" y="3621024"/>
            <a:ext cx="3904488" cy="640080"/>
          </a:xfrm>
          <a:prstGeom prst="rect">
            <a:avLst/>
          </a:prstGeom>
          <a:noFill/>
          <a:ln/>
        </p:spPr>
        <p:txBody>
          <a:bodyPr wrap="square" lIns="0" tIns="0" rIns="0" bIns="0" rtlCol="0" anchor="t"/>
          <a:lstStyle/>
          <a:p>
            <a:pPr marL="0" indent="0">
              <a:lnSpc>
                <a:spcPts val="1500"/>
              </a:lnSpc>
              <a:buNone/>
            </a:pPr>
            <a:r>
              <a:rPr lang="en-US" sz="1100" dirty="0">
                <a:solidFill>
                  <a:srgbClr val="16202B"/>
                </a:solidFill>
                <a:latin typeface="Calibri" pitchFamily="34" charset="0"/>
                <a:ea typeface="Calibri" pitchFamily="34" charset="-122"/>
                <a:cs typeface="Calibri" pitchFamily="34" charset="-120"/>
              </a:rPr>
              <a:t>Per-country performance runs from 0.96 down to 0.18. 37 of 44 countries beat a coin flip; the rest do not.</a:t>
            </a:r>
            <a:endParaRPr lang="en-US" sz="1100" dirty="0"/>
          </a:p>
        </p:txBody>
      </p:sp>
      <p:sp>
        <p:nvSpPr>
          <p:cNvPr id="12" name="Shape 9"/>
          <p:cNvSpPr/>
          <p:nvPr/>
        </p:nvSpPr>
        <p:spPr>
          <a:xfrm>
            <a:off x="7178040" y="4590288"/>
            <a:ext cx="4453128" cy="1152144"/>
          </a:xfrm>
          <a:prstGeom prst="roundRect">
            <a:avLst>
              <a:gd name="adj" fmla="val 8730"/>
            </a:avLst>
          </a:prstGeom>
          <a:solidFill>
            <a:srgbClr val="EEF5FE"/>
          </a:solidFill>
          <a:ln w="12700">
            <a:solidFill>
              <a:srgbClr val="333333"/>
            </a:solidFill>
            <a:prstDash val="solid"/>
          </a:ln>
          <a:effectLst>
            <a:outerShdw blurRad="177800" dist="38100" dir="5400000" algn="bl" rotWithShape="0">
              <a:srgbClr val="0B2545">
                <a:alpha val="10000"/>
              </a:srgbClr>
            </a:outerShdw>
          </a:effectLst>
        </p:spPr>
        <p:txBody>
          <a:bodyPr/>
          <a:lstStyle/>
          <a:p>
            <a:endParaRPr lang="en-US"/>
          </a:p>
        </p:txBody>
      </p:sp>
      <p:sp>
        <p:nvSpPr>
          <p:cNvPr id="13" name="Text 10"/>
          <p:cNvSpPr/>
          <p:nvPr/>
        </p:nvSpPr>
        <p:spPr>
          <a:xfrm>
            <a:off x="7452360" y="4681728"/>
            <a:ext cx="3904488" cy="384048"/>
          </a:xfrm>
          <a:prstGeom prst="rect">
            <a:avLst/>
          </a:prstGeom>
          <a:noFill/>
          <a:ln/>
        </p:spPr>
        <p:txBody>
          <a:bodyPr wrap="square" lIns="0" tIns="0" rIns="0" bIns="0" rtlCol="0" anchor="ctr"/>
          <a:lstStyle/>
          <a:p>
            <a:pPr marL="0" indent="0">
              <a:buNone/>
            </a:pPr>
            <a:r>
              <a:rPr lang="en-US" sz="1450" b="1" dirty="0">
                <a:solidFill>
                  <a:srgbClr val="0B2545"/>
                </a:solidFill>
                <a:latin typeface="Cambria" pitchFamily="34" charset="0"/>
                <a:ea typeface="Cambria" pitchFamily="34" charset="-122"/>
                <a:cs typeface="Cambria" pitchFamily="34" charset="-120"/>
              </a:rPr>
              <a:t>One split, ~349 positives</a:t>
            </a:r>
            <a:endParaRPr lang="en-US" sz="1450" dirty="0"/>
          </a:p>
        </p:txBody>
      </p:sp>
      <p:sp>
        <p:nvSpPr>
          <p:cNvPr id="14" name="Text 11"/>
          <p:cNvSpPr/>
          <p:nvPr/>
        </p:nvSpPr>
        <p:spPr>
          <a:xfrm>
            <a:off x="7452360" y="5047488"/>
            <a:ext cx="3904488" cy="640080"/>
          </a:xfrm>
          <a:prstGeom prst="rect">
            <a:avLst/>
          </a:prstGeom>
          <a:noFill/>
          <a:ln/>
        </p:spPr>
        <p:txBody>
          <a:bodyPr wrap="square" lIns="0" tIns="0" rIns="0" bIns="0" rtlCol="0" anchor="t"/>
          <a:lstStyle/>
          <a:p>
            <a:pPr marL="0" indent="0">
              <a:lnSpc>
                <a:spcPts val="1500"/>
              </a:lnSpc>
              <a:buNone/>
            </a:pPr>
            <a:r>
              <a:rPr lang="en-US" sz="1100" dirty="0">
                <a:solidFill>
                  <a:srgbClr val="16202B"/>
                </a:solidFill>
                <a:latin typeface="Calibri" pitchFamily="34" charset="0"/>
                <a:ea typeface="Calibri" pitchFamily="34" charset="-122"/>
                <a:cs typeface="Calibri" pitchFamily="34" charset="-120"/>
              </a:rPr>
              <a:t>Enough to show the signal exists, not enough for tight confidence intervals. Walk-forward validation is the obvious next step.</a:t>
            </a:r>
            <a:endParaRPr lang="en-US" sz="1100" dirty="0"/>
          </a:p>
        </p:txBody>
      </p:sp>
      <p:sp>
        <p:nvSpPr>
          <p:cNvPr id="15" name="Text 12"/>
          <p:cNvSpPr/>
          <p:nvPr/>
        </p:nvSpPr>
        <p:spPr>
          <a:xfrm>
            <a:off x="566928" y="5943600"/>
            <a:ext cx="11064240" cy="502920"/>
          </a:xfrm>
          <a:prstGeom prst="rect">
            <a:avLst/>
          </a:prstGeom>
          <a:noFill/>
          <a:ln/>
        </p:spPr>
        <p:txBody>
          <a:bodyPr wrap="square" lIns="0" tIns="0" rIns="0" bIns="0" rtlCol="0" anchor="ctr"/>
          <a:lstStyle/>
          <a:p>
            <a:pPr marL="0" indent="0">
              <a:lnSpc>
                <a:spcPts val="1800"/>
              </a:lnSpc>
              <a:buNone/>
            </a:pPr>
            <a:r>
              <a:rPr lang="en-US" sz="1250" i="1" dirty="0">
                <a:solidFill>
                  <a:srgbClr val="5D6B7A"/>
                </a:solidFill>
                <a:latin typeface="Calibri" pitchFamily="34" charset="0"/>
                <a:ea typeface="Calibri" pitchFamily="34" charset="-122"/>
                <a:cs typeface="Calibri" pitchFamily="34" charset="-120"/>
              </a:rPr>
              <a:t>Also honest: logistic regression matches the ensemble on average precision. The boosted model's advantage is confined to the high-confidence end, which happens to be the end you operate at.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28016" cy="128016"/>
          </a:xfrm>
          <a:prstGeom prst="ellipse">
            <a:avLst/>
          </a:prstGeom>
          <a:solidFill>
            <a:srgbClr val="EB6834"/>
          </a:solidFill>
          <a:ln w="12700">
            <a:solidFill>
              <a:srgbClr val="333333"/>
            </a:solidFill>
            <a:prstDash val="solid"/>
          </a:ln>
        </p:spPr>
        <p:txBody>
          <a:bodyPr/>
          <a:lstStyle/>
          <a:p>
            <a:endParaRPr lang="en-US"/>
          </a:p>
        </p:txBody>
      </p:sp>
      <p:sp>
        <p:nvSpPr>
          <p:cNvPr id="3" name="Text 1"/>
          <p:cNvSpPr/>
          <p:nvPr/>
        </p:nvSpPr>
        <p:spPr>
          <a:xfrm>
            <a:off x="786384" y="402336"/>
            <a:ext cx="8229600" cy="274320"/>
          </a:xfrm>
          <a:prstGeom prst="rect">
            <a:avLst/>
          </a:prstGeom>
          <a:noFill/>
          <a:ln/>
        </p:spPr>
        <p:txBody>
          <a:bodyPr wrap="square" lIns="0" tIns="0" rIns="0" bIns="0" rtlCol="0" anchor="ctr"/>
          <a:lstStyle/>
          <a:p>
            <a:pPr marL="0" indent="0">
              <a:buNone/>
            </a:pPr>
            <a:r>
              <a:rPr lang="en-US" sz="1150" b="1" kern="0" spc="200" dirty="0">
                <a:solidFill>
                  <a:srgbClr val="5D6B7A"/>
                </a:solidFill>
                <a:latin typeface="Calibri" pitchFamily="34" charset="0"/>
                <a:ea typeface="Calibri" pitchFamily="34" charset="-122"/>
                <a:cs typeface="Calibri" pitchFamily="34" charset="-120"/>
              </a:rPr>
              <a:t>WHAT COMES NEXT</a:t>
            </a:r>
            <a:endParaRPr lang="en-US" sz="1150" dirty="0"/>
          </a:p>
        </p:txBody>
      </p:sp>
      <p:sp>
        <p:nvSpPr>
          <p:cNvPr id="4" name="Text 2"/>
          <p:cNvSpPr/>
          <p:nvPr/>
        </p:nvSpPr>
        <p:spPr>
          <a:xfrm>
            <a:off x="548640" y="749808"/>
            <a:ext cx="11064240" cy="1024128"/>
          </a:xfrm>
          <a:prstGeom prst="rect">
            <a:avLst/>
          </a:prstGeom>
          <a:noFill/>
          <a:ln/>
        </p:spPr>
        <p:txBody>
          <a:bodyPr wrap="square" lIns="0" tIns="0" rIns="0" bIns="0" rtlCol="0" anchor="t"/>
          <a:lstStyle/>
          <a:p>
            <a:pPr marL="0" indent="0">
              <a:lnSpc>
                <a:spcPts val="3900"/>
              </a:lnSpc>
              <a:buNone/>
            </a:pPr>
            <a:r>
              <a:rPr lang="en-US" sz="3300" b="1" dirty="0">
                <a:solidFill>
                  <a:srgbClr val="0B2545"/>
                </a:solidFill>
                <a:latin typeface="Cambria" pitchFamily="34" charset="0"/>
                <a:ea typeface="Cambria" pitchFamily="34" charset="-122"/>
                <a:cs typeface="Cambria" pitchFamily="34" charset="-120"/>
              </a:rPr>
              <a:t>Ordered by what would settle the questions fastest</a:t>
            </a:r>
            <a:endParaRPr lang="en-US" sz="3300" dirty="0"/>
          </a:p>
        </p:txBody>
      </p:sp>
      <p:sp>
        <p:nvSpPr>
          <p:cNvPr id="5" name="Shape 3"/>
          <p:cNvSpPr/>
          <p:nvPr/>
        </p:nvSpPr>
        <p:spPr>
          <a:xfrm>
            <a:off x="566928" y="1984248"/>
            <a:ext cx="420624" cy="420624"/>
          </a:xfrm>
          <a:prstGeom prst="ellipse">
            <a:avLst/>
          </a:prstGeom>
          <a:solidFill>
            <a:srgbClr val="EB6834"/>
          </a:solidFill>
          <a:ln w="12700">
            <a:solidFill>
              <a:srgbClr val="333333"/>
            </a:solidFill>
            <a:prstDash val="solid"/>
          </a:ln>
        </p:spPr>
        <p:txBody>
          <a:bodyPr/>
          <a:lstStyle/>
          <a:p>
            <a:endParaRPr lang="en-US"/>
          </a:p>
        </p:txBody>
      </p:sp>
      <p:sp>
        <p:nvSpPr>
          <p:cNvPr id="6" name="Text 4"/>
          <p:cNvSpPr/>
          <p:nvPr/>
        </p:nvSpPr>
        <p:spPr>
          <a:xfrm>
            <a:off x="566928" y="1984248"/>
            <a:ext cx="420624" cy="420624"/>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70432" y="1837944"/>
            <a:ext cx="3566160" cy="685800"/>
          </a:xfrm>
          <a:prstGeom prst="rect">
            <a:avLst/>
          </a:prstGeom>
          <a:noFill/>
          <a:ln/>
        </p:spPr>
        <p:txBody>
          <a:bodyPr wrap="square" lIns="0" tIns="0" rIns="0" bIns="0" rtlCol="0" anchor="ctr"/>
          <a:lstStyle/>
          <a:p>
            <a:pPr marL="0" indent="0">
              <a:lnSpc>
                <a:spcPts val="1900"/>
              </a:lnSpc>
              <a:buNone/>
            </a:pPr>
            <a:r>
              <a:rPr lang="en-US" sz="1600" b="1" dirty="0">
                <a:solidFill>
                  <a:srgbClr val="0B2545"/>
                </a:solidFill>
                <a:latin typeface="Cambria" pitchFamily="34" charset="0"/>
                <a:ea typeface="Cambria" pitchFamily="34" charset="-122"/>
                <a:cs typeface="Cambria" pitchFamily="34" charset="-120"/>
              </a:rPr>
              <a:t>Check it against reality</a:t>
            </a:r>
            <a:endParaRPr lang="en-US" sz="1600" dirty="0"/>
          </a:p>
        </p:txBody>
      </p:sp>
      <p:sp>
        <p:nvSpPr>
          <p:cNvPr id="8" name="Text 6"/>
          <p:cNvSpPr/>
          <p:nvPr/>
        </p:nvSpPr>
        <p:spPr>
          <a:xfrm>
            <a:off x="4846320" y="1783080"/>
            <a:ext cx="6784848" cy="868680"/>
          </a:xfrm>
          <a:prstGeom prst="rect">
            <a:avLst/>
          </a:prstGeom>
          <a:noFill/>
          <a:ln/>
        </p:spPr>
        <p:txBody>
          <a:bodyPr wrap="square" lIns="0" tIns="0" rIns="0" bIns="0" rtlCol="0" anchor="ctr"/>
          <a:lstStyle/>
          <a:p>
            <a:pPr marL="0" indent="0">
              <a:lnSpc>
                <a:spcPts val="1800"/>
              </a:lnSpc>
              <a:buNone/>
            </a:pPr>
            <a:r>
              <a:rPr lang="en-US" sz="1250" dirty="0">
                <a:solidFill>
                  <a:srgbClr val="16202B"/>
                </a:solidFill>
                <a:latin typeface="Calibri" pitchFamily="34" charset="0"/>
                <a:ea typeface="Calibri" pitchFamily="34" charset="-122"/>
                <a:cs typeface="Calibri" pitchFamily="34" charset="-120"/>
              </a:rPr>
              <a:t>Compare the labels with a human-coded conflict dataset such as ACLED or UCDP. This decides how much of the signal is escalation rather than news attention.</a:t>
            </a:r>
            <a:endParaRPr lang="en-US" sz="1250" dirty="0"/>
          </a:p>
        </p:txBody>
      </p:sp>
      <p:sp>
        <p:nvSpPr>
          <p:cNvPr id="9" name="Shape 7"/>
          <p:cNvSpPr/>
          <p:nvPr/>
        </p:nvSpPr>
        <p:spPr>
          <a:xfrm>
            <a:off x="566928" y="3035808"/>
            <a:ext cx="420624" cy="420624"/>
          </a:xfrm>
          <a:prstGeom prst="ellipse">
            <a:avLst/>
          </a:prstGeom>
          <a:solidFill>
            <a:srgbClr val="2A78D6"/>
          </a:solidFill>
          <a:ln w="12700">
            <a:solidFill>
              <a:srgbClr val="333333"/>
            </a:solidFill>
            <a:prstDash val="solid"/>
          </a:ln>
        </p:spPr>
        <p:txBody>
          <a:bodyPr/>
          <a:lstStyle/>
          <a:p>
            <a:endParaRPr lang="en-US"/>
          </a:p>
        </p:txBody>
      </p:sp>
      <p:sp>
        <p:nvSpPr>
          <p:cNvPr id="10" name="Text 8"/>
          <p:cNvSpPr/>
          <p:nvPr/>
        </p:nvSpPr>
        <p:spPr>
          <a:xfrm>
            <a:off x="566928" y="303580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170432" y="2889504"/>
            <a:ext cx="3566160" cy="685800"/>
          </a:xfrm>
          <a:prstGeom prst="rect">
            <a:avLst/>
          </a:prstGeom>
          <a:noFill/>
          <a:ln/>
        </p:spPr>
        <p:txBody>
          <a:bodyPr wrap="square" lIns="0" tIns="0" rIns="0" bIns="0" rtlCol="0" anchor="ctr"/>
          <a:lstStyle/>
          <a:p>
            <a:pPr marL="0" indent="0">
              <a:lnSpc>
                <a:spcPts val="1900"/>
              </a:lnSpc>
              <a:buNone/>
            </a:pPr>
            <a:r>
              <a:rPr lang="en-US" sz="1600" b="1" dirty="0">
                <a:solidFill>
                  <a:srgbClr val="0B2545"/>
                </a:solidFill>
                <a:latin typeface="Cambria" pitchFamily="34" charset="0"/>
                <a:ea typeface="Cambria" pitchFamily="34" charset="-122"/>
                <a:cs typeface="Cambria" pitchFamily="34" charset="-120"/>
              </a:rPr>
              <a:t>Validate over many windows</a:t>
            </a:r>
            <a:endParaRPr lang="en-US" sz="1600" dirty="0"/>
          </a:p>
        </p:txBody>
      </p:sp>
      <p:sp>
        <p:nvSpPr>
          <p:cNvPr id="12" name="Text 10"/>
          <p:cNvSpPr/>
          <p:nvPr/>
        </p:nvSpPr>
        <p:spPr>
          <a:xfrm>
            <a:off x="4846320" y="2834640"/>
            <a:ext cx="6784848" cy="868680"/>
          </a:xfrm>
          <a:prstGeom prst="rect">
            <a:avLst/>
          </a:prstGeom>
          <a:noFill/>
          <a:ln/>
        </p:spPr>
        <p:txBody>
          <a:bodyPr wrap="square" lIns="0" tIns="0" rIns="0" bIns="0" rtlCol="0" anchor="ctr"/>
          <a:lstStyle/>
          <a:p>
            <a:pPr marL="0" indent="0">
              <a:lnSpc>
                <a:spcPts val="1800"/>
              </a:lnSpc>
              <a:buNone/>
            </a:pPr>
            <a:r>
              <a:rPr lang="en-US" sz="1250" dirty="0">
                <a:solidFill>
                  <a:srgbClr val="16202B"/>
                </a:solidFill>
                <a:latin typeface="Calibri" pitchFamily="34" charset="0"/>
                <a:ea typeface="Calibri" pitchFamily="34" charset="-122"/>
                <a:cs typeface="Calibri" pitchFamily="34" charset="-120"/>
              </a:rPr>
              <a:t>Roll the train/test cutoff forward repeatedly instead of splitting once, and report uncertainty rather than point estimates.</a:t>
            </a:r>
            <a:endParaRPr lang="en-US" sz="1250" dirty="0"/>
          </a:p>
        </p:txBody>
      </p:sp>
      <p:sp>
        <p:nvSpPr>
          <p:cNvPr id="13" name="Shape 11"/>
          <p:cNvSpPr/>
          <p:nvPr/>
        </p:nvSpPr>
        <p:spPr>
          <a:xfrm>
            <a:off x="566928" y="4087368"/>
            <a:ext cx="420624" cy="420624"/>
          </a:xfrm>
          <a:prstGeom prst="ellipse">
            <a:avLst/>
          </a:prstGeom>
          <a:solidFill>
            <a:srgbClr val="2A78D6"/>
          </a:solidFill>
          <a:ln w="12700">
            <a:solidFill>
              <a:srgbClr val="333333"/>
            </a:solidFill>
            <a:prstDash val="solid"/>
          </a:ln>
        </p:spPr>
        <p:txBody>
          <a:bodyPr/>
          <a:lstStyle/>
          <a:p>
            <a:endParaRPr lang="en-US"/>
          </a:p>
        </p:txBody>
      </p:sp>
      <p:sp>
        <p:nvSpPr>
          <p:cNvPr id="14" name="Text 12"/>
          <p:cNvSpPr/>
          <p:nvPr/>
        </p:nvSpPr>
        <p:spPr>
          <a:xfrm>
            <a:off x="566928" y="40873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170432" y="3941064"/>
            <a:ext cx="3566160" cy="685800"/>
          </a:xfrm>
          <a:prstGeom prst="rect">
            <a:avLst/>
          </a:prstGeom>
          <a:noFill/>
          <a:ln/>
        </p:spPr>
        <p:txBody>
          <a:bodyPr wrap="square" lIns="0" tIns="0" rIns="0" bIns="0" rtlCol="0" anchor="ctr"/>
          <a:lstStyle/>
          <a:p>
            <a:pPr marL="0" indent="0">
              <a:lnSpc>
                <a:spcPts val="1900"/>
              </a:lnSpc>
              <a:buNone/>
            </a:pPr>
            <a:r>
              <a:rPr lang="en-US" sz="1600" b="1" dirty="0">
                <a:solidFill>
                  <a:srgbClr val="0B2545"/>
                </a:solidFill>
                <a:latin typeface="Cambria" pitchFamily="34" charset="0"/>
                <a:ea typeface="Cambria" pitchFamily="34" charset="-122"/>
                <a:cs typeface="Cambria" pitchFamily="34" charset="-120"/>
              </a:rPr>
              <a:t>Let it see who, not just where</a:t>
            </a:r>
            <a:endParaRPr lang="en-US" sz="1600" dirty="0"/>
          </a:p>
        </p:txBody>
      </p:sp>
      <p:sp>
        <p:nvSpPr>
          <p:cNvPr id="16" name="Text 14"/>
          <p:cNvSpPr/>
          <p:nvPr/>
        </p:nvSpPr>
        <p:spPr>
          <a:xfrm>
            <a:off x="4846320" y="3886200"/>
            <a:ext cx="6784848" cy="868680"/>
          </a:xfrm>
          <a:prstGeom prst="rect">
            <a:avLst/>
          </a:prstGeom>
          <a:noFill/>
          <a:ln/>
        </p:spPr>
        <p:txBody>
          <a:bodyPr wrap="square" lIns="0" tIns="0" rIns="0" bIns="0" rtlCol="0" anchor="ctr"/>
          <a:lstStyle/>
          <a:p>
            <a:pPr marL="0" indent="0">
              <a:lnSpc>
                <a:spcPts val="1800"/>
              </a:lnSpc>
              <a:buNone/>
            </a:pPr>
            <a:r>
              <a:rPr lang="en-US" sz="1250" dirty="0">
                <a:solidFill>
                  <a:srgbClr val="16202B"/>
                </a:solidFill>
                <a:latin typeface="Calibri" pitchFamily="34" charset="0"/>
                <a:ea typeface="Calibri" pitchFamily="34" charset="-122"/>
                <a:cs typeface="Calibri" pitchFamily="34" charset="-120"/>
              </a:rPr>
              <a:t>Add actor-level features so the model can watch escalation between specific pairs of states, invisible to it today.</a:t>
            </a:r>
            <a:endParaRPr lang="en-US" sz="1250" dirty="0"/>
          </a:p>
        </p:txBody>
      </p:sp>
      <p:sp>
        <p:nvSpPr>
          <p:cNvPr id="17" name="Shape 15"/>
          <p:cNvSpPr/>
          <p:nvPr/>
        </p:nvSpPr>
        <p:spPr>
          <a:xfrm>
            <a:off x="566928" y="5138928"/>
            <a:ext cx="420624" cy="420624"/>
          </a:xfrm>
          <a:prstGeom prst="ellipse">
            <a:avLst/>
          </a:prstGeom>
          <a:solidFill>
            <a:srgbClr val="2A78D6"/>
          </a:solidFill>
          <a:ln w="12700">
            <a:solidFill>
              <a:srgbClr val="333333"/>
            </a:solidFill>
            <a:prstDash val="solid"/>
          </a:ln>
        </p:spPr>
        <p:txBody>
          <a:bodyPr/>
          <a:lstStyle/>
          <a:p>
            <a:endParaRPr lang="en-US"/>
          </a:p>
        </p:txBody>
      </p:sp>
      <p:sp>
        <p:nvSpPr>
          <p:cNvPr id="18" name="Text 16"/>
          <p:cNvSpPr/>
          <p:nvPr/>
        </p:nvSpPr>
        <p:spPr>
          <a:xfrm>
            <a:off x="566928" y="51389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170432" y="4992624"/>
            <a:ext cx="3566160" cy="685800"/>
          </a:xfrm>
          <a:prstGeom prst="rect">
            <a:avLst/>
          </a:prstGeom>
          <a:noFill/>
          <a:ln/>
        </p:spPr>
        <p:txBody>
          <a:bodyPr wrap="square" lIns="0" tIns="0" rIns="0" bIns="0" rtlCol="0" anchor="ctr"/>
          <a:lstStyle/>
          <a:p>
            <a:pPr marL="0" indent="0">
              <a:lnSpc>
                <a:spcPts val="1900"/>
              </a:lnSpc>
              <a:buNone/>
            </a:pPr>
            <a:r>
              <a:rPr lang="en-US" sz="1600" b="1" dirty="0">
                <a:solidFill>
                  <a:srgbClr val="0B2545"/>
                </a:solidFill>
                <a:latin typeface="Cambria" pitchFamily="34" charset="0"/>
                <a:ea typeface="Cambria" pitchFamily="34" charset="-122"/>
                <a:cs typeface="Cambria" pitchFamily="34" charset="-120"/>
              </a:rPr>
              <a:t>Try a model that reads sequences</a:t>
            </a:r>
            <a:endParaRPr lang="en-US" sz="1600" dirty="0"/>
          </a:p>
        </p:txBody>
      </p:sp>
      <p:sp>
        <p:nvSpPr>
          <p:cNvPr id="20" name="Text 18"/>
          <p:cNvSpPr/>
          <p:nvPr/>
        </p:nvSpPr>
        <p:spPr>
          <a:xfrm>
            <a:off x="4846320" y="4937760"/>
            <a:ext cx="6784848" cy="868680"/>
          </a:xfrm>
          <a:prstGeom prst="rect">
            <a:avLst/>
          </a:prstGeom>
          <a:noFill/>
          <a:ln/>
        </p:spPr>
        <p:txBody>
          <a:bodyPr wrap="square" lIns="0" tIns="0" rIns="0" bIns="0" rtlCol="0" anchor="ctr"/>
          <a:lstStyle/>
          <a:p>
            <a:pPr marL="0" indent="0">
              <a:lnSpc>
                <a:spcPts val="1800"/>
              </a:lnSpc>
              <a:buNone/>
            </a:pPr>
            <a:r>
              <a:rPr lang="en-US" sz="1250" dirty="0">
                <a:solidFill>
                  <a:srgbClr val="16202B"/>
                </a:solidFill>
                <a:latin typeface="Calibri" pitchFamily="34" charset="0"/>
                <a:ea typeface="Calibri" pitchFamily="34" charset="-122"/>
                <a:cs typeface="Calibri" pitchFamily="34" charset="-120"/>
              </a:rPr>
              <a:t>Give a sequence model the weekly series directly and see whether the ceiling reached here belongs to the data or to the hand-built lags.</a:t>
            </a:r>
            <a:endParaRPr lang="en-US" sz="1250" dirty="0"/>
          </a:p>
        </p:txBody>
      </p:sp>
      <p:sp>
        <p:nvSpPr>
          <p:cNvPr id="21" name="Text 19"/>
          <p:cNvSpPr/>
          <p:nvPr/>
        </p:nvSpPr>
        <p:spPr>
          <a:xfrm>
            <a:off x="566928" y="6053328"/>
            <a:ext cx="11064240" cy="411480"/>
          </a:xfrm>
          <a:prstGeom prst="rect">
            <a:avLst/>
          </a:prstGeom>
          <a:noFill/>
          <a:ln/>
        </p:spPr>
        <p:txBody>
          <a:bodyPr wrap="square" lIns="0" tIns="0" rIns="0" bIns="0" rtlCol="0" anchor="ctr"/>
          <a:lstStyle/>
          <a:p>
            <a:pPr marL="0" indent="0">
              <a:buNone/>
            </a:pPr>
            <a:r>
              <a:rPr lang="en-US" sz="1200" i="1" dirty="0">
                <a:solidFill>
                  <a:srgbClr val="5D6B7A"/>
                </a:solidFill>
                <a:latin typeface="Calibri" pitchFamily="34" charset="0"/>
                <a:ea typeface="Calibri" pitchFamily="34" charset="-122"/>
                <a:cs typeface="Calibri" pitchFamily="34" charset="-120"/>
              </a:rPr>
              <a:t>The pipeline was built so each of these is an addition rather than a rewrite. That was the point of building it as a pipeline.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692640" y="3291840"/>
            <a:ext cx="4937760" cy="4937760"/>
          </a:xfrm>
          <a:prstGeom prst="ellipse">
            <a:avLst/>
          </a:prstGeom>
          <a:solidFill>
            <a:srgbClr val="13375E"/>
          </a:solidFill>
          <a:ln w="12700">
            <a:solidFill>
              <a:srgbClr val="333333"/>
            </a:solidFill>
            <a:prstDash val="solid"/>
          </a:ln>
        </p:spPr>
        <p:txBody>
          <a:bodyPr/>
          <a:lstStyle/>
          <a:p>
            <a:endParaRPr lang="en-US"/>
          </a:p>
        </p:txBody>
      </p:sp>
      <p:sp>
        <p:nvSpPr>
          <p:cNvPr id="3" name="Shape 1"/>
          <p:cNvSpPr/>
          <p:nvPr/>
        </p:nvSpPr>
        <p:spPr>
          <a:xfrm>
            <a:off x="777240" y="1243584"/>
            <a:ext cx="173736" cy="173736"/>
          </a:xfrm>
          <a:prstGeom prst="ellipse">
            <a:avLst/>
          </a:prstGeom>
          <a:solidFill>
            <a:srgbClr val="EB6834"/>
          </a:solidFill>
          <a:ln w="12700">
            <a:solidFill>
              <a:srgbClr val="333333"/>
            </a:solidFill>
            <a:prstDash val="solid"/>
          </a:ln>
        </p:spPr>
        <p:txBody>
          <a:bodyPr/>
          <a:lstStyle/>
          <a:p>
            <a:endParaRPr lang="en-US"/>
          </a:p>
        </p:txBody>
      </p:sp>
      <p:sp>
        <p:nvSpPr>
          <p:cNvPr id="4" name="Text 2"/>
          <p:cNvSpPr/>
          <p:nvPr/>
        </p:nvSpPr>
        <p:spPr>
          <a:xfrm>
            <a:off x="1078992" y="1133856"/>
            <a:ext cx="5486400" cy="384048"/>
          </a:xfrm>
          <a:prstGeom prst="rect">
            <a:avLst/>
          </a:prstGeom>
          <a:noFill/>
          <a:ln/>
        </p:spPr>
        <p:txBody>
          <a:bodyPr wrap="square" lIns="0" tIns="0" rIns="0" bIns="0" rtlCol="0" anchor="ctr"/>
          <a:lstStyle/>
          <a:p>
            <a:pPr marL="0" indent="0">
              <a:buNone/>
            </a:pPr>
            <a:r>
              <a:rPr lang="en-US" sz="1250" b="1" kern="0" spc="250" dirty="0">
                <a:solidFill>
                  <a:srgbClr val="CADCFC"/>
                </a:solidFill>
                <a:latin typeface="Calibri" pitchFamily="34" charset="0"/>
                <a:ea typeface="Calibri" pitchFamily="34" charset="-122"/>
                <a:cs typeface="Calibri" pitchFamily="34" charset="-120"/>
              </a:rPr>
              <a:t>THE TAKEAWAY</a:t>
            </a:r>
            <a:endParaRPr lang="en-US" sz="1250" dirty="0"/>
          </a:p>
        </p:txBody>
      </p:sp>
      <p:sp>
        <p:nvSpPr>
          <p:cNvPr id="5" name="Text 3"/>
          <p:cNvSpPr/>
          <p:nvPr/>
        </p:nvSpPr>
        <p:spPr>
          <a:xfrm>
            <a:off x="777240" y="1691640"/>
            <a:ext cx="8412480" cy="1463040"/>
          </a:xfrm>
          <a:prstGeom prst="rect">
            <a:avLst/>
          </a:prstGeom>
          <a:noFill/>
          <a:ln/>
        </p:spPr>
        <p:txBody>
          <a:bodyPr wrap="square" lIns="0" tIns="0" rIns="0" bIns="0" rtlCol="0" anchor="t"/>
          <a:lstStyle/>
          <a:p>
            <a:pPr marL="0" indent="0">
              <a:lnSpc>
                <a:spcPts val="4200"/>
              </a:lnSpc>
              <a:buNone/>
            </a:pPr>
            <a:r>
              <a:rPr lang="en-US" sz="3400" b="1" dirty="0">
                <a:solidFill>
                  <a:srgbClr val="FFFFFF"/>
                </a:solidFill>
                <a:latin typeface="Cambria" pitchFamily="34" charset="0"/>
                <a:ea typeface="Cambria" pitchFamily="34" charset="-122"/>
                <a:cs typeface="Cambria" pitchFamily="34" charset="-120"/>
              </a:rPr>
              <a:t>Free news data really does give you a week or two of warning.</a:t>
            </a:r>
            <a:endParaRPr lang="en-US" sz="3400" dirty="0"/>
          </a:p>
        </p:txBody>
      </p:sp>
      <p:sp>
        <p:nvSpPr>
          <p:cNvPr id="6" name="Text 4"/>
          <p:cNvSpPr/>
          <p:nvPr/>
        </p:nvSpPr>
        <p:spPr>
          <a:xfrm>
            <a:off x="777240" y="3383280"/>
            <a:ext cx="8138160" cy="1097280"/>
          </a:xfrm>
          <a:prstGeom prst="rect">
            <a:avLst/>
          </a:prstGeom>
          <a:noFill/>
          <a:ln/>
        </p:spPr>
        <p:txBody>
          <a:bodyPr wrap="square" lIns="0" tIns="0" rIns="0" bIns="0" rtlCol="0" anchor="t"/>
          <a:lstStyle/>
          <a:p>
            <a:pPr marL="0" indent="0">
              <a:lnSpc>
                <a:spcPts val="2600"/>
              </a:lnSpc>
              <a:buNone/>
            </a:pPr>
            <a:r>
              <a:rPr lang="en-US" sz="1700" dirty="0">
                <a:solidFill>
                  <a:srgbClr val="CADCFC"/>
                </a:solidFill>
                <a:latin typeface="Calibri" pitchFamily="34" charset="0"/>
                <a:ea typeface="Calibri" pitchFamily="34" charset="-122"/>
                <a:cs typeface="Calibri" pitchFamily="34" charset="-120"/>
              </a:rPr>
              <a:t>It is a signal about reporting rather than about the world, it is modest in size, and it is worth having anyway, for deciding what to read first rather than for raising alarms.</a:t>
            </a:r>
            <a:endParaRPr lang="en-US" sz="1700" dirty="0"/>
          </a:p>
        </p:txBody>
      </p:sp>
      <p:sp>
        <p:nvSpPr>
          <p:cNvPr id="7" name="Text 5"/>
          <p:cNvSpPr/>
          <p:nvPr/>
        </p:nvSpPr>
        <p:spPr>
          <a:xfrm>
            <a:off x="777240" y="4800600"/>
            <a:ext cx="2651760" cy="502920"/>
          </a:xfrm>
          <a:prstGeom prst="rect">
            <a:avLst/>
          </a:prstGeom>
          <a:noFill/>
          <a:ln/>
        </p:spPr>
        <p:txBody>
          <a:bodyPr wrap="square" lIns="0" tIns="0" rIns="0" bIns="0" rtlCol="0" anchor="ctr"/>
          <a:lstStyle/>
          <a:p>
            <a:pPr marL="0" indent="0">
              <a:buNone/>
            </a:pPr>
            <a:r>
              <a:rPr lang="en-US" sz="2500" b="1" dirty="0">
                <a:solidFill>
                  <a:srgbClr val="EB6834"/>
                </a:solidFill>
                <a:latin typeface="Cambria" pitchFamily="34" charset="0"/>
                <a:ea typeface="Cambria" pitchFamily="34" charset="-122"/>
                <a:cs typeface="Cambria" pitchFamily="34" charset="-120"/>
              </a:rPr>
              <a:t>1.9x</a:t>
            </a:r>
            <a:endParaRPr lang="en-US" sz="2500" dirty="0"/>
          </a:p>
        </p:txBody>
      </p:sp>
      <p:sp>
        <p:nvSpPr>
          <p:cNvPr id="8" name="Text 6"/>
          <p:cNvSpPr/>
          <p:nvPr/>
        </p:nvSpPr>
        <p:spPr>
          <a:xfrm>
            <a:off x="777240" y="5321808"/>
            <a:ext cx="2651760" cy="502920"/>
          </a:xfrm>
          <a:prstGeom prst="rect">
            <a:avLst/>
          </a:prstGeom>
          <a:noFill/>
          <a:ln/>
        </p:spPr>
        <p:txBody>
          <a:bodyPr wrap="square" lIns="0" tIns="0" rIns="0" bIns="0" rtlCol="0" anchor="t"/>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better than guessing</a:t>
            </a:r>
            <a:endParaRPr lang="en-US" sz="1250" dirty="0"/>
          </a:p>
        </p:txBody>
      </p:sp>
      <p:sp>
        <p:nvSpPr>
          <p:cNvPr id="9" name="Text 7"/>
          <p:cNvSpPr/>
          <p:nvPr/>
        </p:nvSpPr>
        <p:spPr>
          <a:xfrm>
            <a:off x="3657600" y="4800600"/>
            <a:ext cx="2651760" cy="502920"/>
          </a:xfrm>
          <a:prstGeom prst="rect">
            <a:avLst/>
          </a:prstGeom>
          <a:noFill/>
          <a:ln/>
        </p:spPr>
        <p:txBody>
          <a:bodyPr wrap="square" lIns="0" tIns="0" rIns="0" bIns="0" rtlCol="0" anchor="ctr"/>
          <a:lstStyle/>
          <a:p>
            <a:pPr marL="0" indent="0">
              <a:buNone/>
            </a:pPr>
            <a:r>
              <a:rPr lang="en-US" sz="2500" b="1" dirty="0">
                <a:solidFill>
                  <a:srgbClr val="EB6834"/>
                </a:solidFill>
                <a:latin typeface="Cambria" pitchFamily="34" charset="0"/>
                <a:ea typeface="Cambria" pitchFamily="34" charset="-122"/>
                <a:cs typeface="Cambria" pitchFamily="34" charset="-120"/>
              </a:rPr>
              <a:t>every</a:t>
            </a:r>
            <a:endParaRPr lang="en-US" sz="2500" dirty="0"/>
          </a:p>
        </p:txBody>
      </p:sp>
      <p:sp>
        <p:nvSpPr>
          <p:cNvPr id="10" name="Text 8"/>
          <p:cNvSpPr/>
          <p:nvPr/>
        </p:nvSpPr>
        <p:spPr>
          <a:xfrm>
            <a:off x="3657600" y="5321808"/>
            <a:ext cx="2651760" cy="502920"/>
          </a:xfrm>
          <a:prstGeom prst="rect">
            <a:avLst/>
          </a:prstGeom>
          <a:noFill/>
          <a:ln/>
        </p:spPr>
        <p:txBody>
          <a:bodyPr wrap="square" lIns="0" tIns="0" rIns="0" bIns="0" rtlCol="0" anchor="t"/>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horizon beats the rule of thumb</a:t>
            </a:r>
            <a:endParaRPr lang="en-US" sz="1250" dirty="0"/>
          </a:p>
        </p:txBody>
      </p:sp>
      <p:sp>
        <p:nvSpPr>
          <p:cNvPr id="11" name="Text 9"/>
          <p:cNvSpPr/>
          <p:nvPr/>
        </p:nvSpPr>
        <p:spPr>
          <a:xfrm>
            <a:off x="6537960" y="4800600"/>
            <a:ext cx="2651760" cy="502920"/>
          </a:xfrm>
          <a:prstGeom prst="rect">
            <a:avLst/>
          </a:prstGeom>
          <a:noFill/>
          <a:ln/>
        </p:spPr>
        <p:txBody>
          <a:bodyPr wrap="square" lIns="0" tIns="0" rIns="0" bIns="0" rtlCol="0" anchor="ctr"/>
          <a:lstStyle/>
          <a:p>
            <a:pPr marL="0" indent="0">
              <a:buNone/>
            </a:pPr>
            <a:r>
              <a:rPr lang="en-US" sz="2500" b="1" dirty="0">
                <a:solidFill>
                  <a:srgbClr val="EB6834"/>
                </a:solidFill>
                <a:latin typeface="Cambria" pitchFamily="34" charset="0"/>
                <a:ea typeface="Cambria" pitchFamily="34" charset="-122"/>
                <a:cs typeface="Cambria" pitchFamily="34" charset="-120"/>
              </a:rPr>
              <a:t>1 in 5</a:t>
            </a:r>
            <a:endParaRPr lang="en-US" sz="2500" dirty="0"/>
          </a:p>
        </p:txBody>
      </p:sp>
      <p:sp>
        <p:nvSpPr>
          <p:cNvPr id="12" name="Text 10"/>
          <p:cNvSpPr/>
          <p:nvPr/>
        </p:nvSpPr>
        <p:spPr>
          <a:xfrm>
            <a:off x="6537960" y="5321808"/>
            <a:ext cx="2651760" cy="502920"/>
          </a:xfrm>
          <a:prstGeom prst="rect">
            <a:avLst/>
          </a:prstGeom>
          <a:noFill/>
          <a:ln/>
        </p:spPr>
        <p:txBody>
          <a:bodyPr wrap="square" lIns="0" tIns="0" rIns="0" bIns="0" rtlCol="0" anchor="t"/>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alerts are real</a:t>
            </a:r>
            <a:endParaRPr lang="en-US" sz="1250" dirty="0"/>
          </a:p>
        </p:txBody>
      </p:sp>
      <p:sp>
        <p:nvSpPr>
          <p:cNvPr id="13" name="Text 11"/>
          <p:cNvSpPr/>
          <p:nvPr/>
        </p:nvSpPr>
        <p:spPr>
          <a:xfrm>
            <a:off x="777240" y="6144768"/>
            <a:ext cx="10058400" cy="365760"/>
          </a:xfrm>
          <a:prstGeom prst="rect">
            <a:avLst/>
          </a:prstGeom>
          <a:noFill/>
          <a:ln/>
        </p:spPr>
        <p:txBody>
          <a:bodyPr wrap="square" lIns="0" tIns="0" rIns="0" bIns="0" rtlCol="0" anchor="ctr"/>
          <a:lstStyle/>
          <a:p>
            <a:pPr marL="0" indent="0">
              <a:buNone/>
            </a:pPr>
            <a:r>
              <a:rPr lang="en-US" sz="1150" dirty="0">
                <a:solidFill>
                  <a:srgbClr val="9BB4D6"/>
                </a:solidFill>
                <a:latin typeface="Calibri" pitchFamily="34" charset="0"/>
                <a:ea typeface="Calibri" pitchFamily="34" charset="-122"/>
                <a:cs typeface="Calibri" pitchFamily="34" charset="-120"/>
              </a:rPr>
              <a:t>Deven Shah   ·   MET CS 777   ·   Code, data documentation and the web app are in the project repository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1198</TotalTime>
  <Words>2752</Words>
  <Application>Microsoft Macintosh PowerPoint</Application>
  <PresentationFormat>Widescreen</PresentationFormat>
  <Paragraphs>246</Paragraphs>
  <Slides>20</Slides>
  <Notes>20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GDELT Crisis Forecasting</dc:title>
  <dc:subject>PptxGenJS Presentation</dc:subject>
  <dc:creator>Deven Shah</dc:creator>
  <cp:lastModifiedBy>Iris Team</cp:lastModifiedBy>
  <cp:revision>2</cp:revision>
  <dcterms:created xsi:type="dcterms:W3CDTF">2026-08-01T22:52:27Z</dcterms:created>
  <dcterms:modified xsi:type="dcterms:W3CDTF">2026-08-02T19:13:38Z</dcterms:modified>
</cp:coreProperties>
</file>